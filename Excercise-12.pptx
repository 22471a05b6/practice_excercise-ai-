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Inter"/>
      <ns0:bold ns1:id="rIdFont12"/>
      <ns0:regular ns1:id="rIdFont13"/>
    </ns0:embeddedFont>
    <ns0:embeddedFont>
      <ns0:font typeface="Space Grotesk"/>
      <ns0:bold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4097fa3d-2d95-45cb-8a07-ce9dc8204e30.fntdata" /><ns0:Relationship Id="rIdFont13" Type="http://schemas.openxmlformats.org/officeDocument/2006/relationships/font" Target="fonts/8b580204-cce3-4340-b5ad-4a4b3c3e4e48.fntdata" /><ns0:Relationship Id="rIdFont14" Type="http://schemas.openxmlformats.org/officeDocument/2006/relationships/font" Target="fonts/aec03123-d166-42f9-8fd1-57ba8e438c8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4538513"/>
            <a:ext cx="5334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2281237"/>
            <a:ext cx="11353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FOUNDATIONAL AI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671762"/>
            <a:ext cx="11251406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Large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570833"/>
            <a:ext cx="6953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Scaling dynamics, attention architectures, and empirical reasoning benchmarks.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2744092"/>
            <a:ext cx="10515600" cy="266700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8200" y="3782317"/>
            <a:ext cx="10515600" cy="266700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8200" y="4820542"/>
            <a:ext cx="10515600" cy="266700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8200" y="2744092"/>
            <a:ext cx="578346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3782317"/>
            <a:ext cx="8202066" cy="26670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200" y="4820542"/>
            <a:ext cx="10094862" cy="266700"/>
          </a:xfrm>
          <a:prstGeom prst="roundRect">
            <a:avLst>
              <a:gd name="adj" fmla="val 28571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SCALING LAWS &amp;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781050"/>
            <a:ext cx="113538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Training Compute vs. Token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067942"/>
            <a:ext cx="11353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Tokens scaled proportionally to active parameters.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106167"/>
            <a:ext cx="11353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Sub-quadratic latency via Grouped-Query Attention.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5144392"/>
            <a:ext cx="11353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Emergent multi-step reasoning capabilities.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439292"/>
            <a:ext cx="4714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Chinchilla-Optimal Tier (8B / 15T Tokens)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5450" y="2458342"/>
            <a:ext cx="2547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Inter"/>
              </a:rPr>
              <a:t>1.8× Compute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477517"/>
            <a:ext cx="47505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Enterprise Mid-Range (70B / 15T Tokens)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5900" y="3496567"/>
            <a:ext cx="2809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82F6"/>
                </a:solidFill>
                <a:latin typeface="Inter"/>
              </a:rPr>
              <a:t>4.2× Inference Throughput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515742"/>
            <a:ext cx="4857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Frontier Dense / MoE (405B+ Parameters)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2625" y="4534792"/>
            <a:ext cx="2226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D4ED8"/>
                </a:solidFill>
                <a:latin typeface="Inter"/>
              </a:rPr>
              <a:t>10^26 Training FLOPs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2305942"/>
            <a:ext cx="5029200" cy="94297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3420367"/>
            <a:ext cx="5029200" cy="94297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4534792"/>
            <a:ext cx="5029200" cy="94297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8200" y="5044380"/>
            <a:ext cx="113853" cy="114300"/>
          </a:xfrm>
          <a:prstGeom prst="roundRect">
            <a:avLst>
              <a:gd name="adj" fmla="val 25098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61170" y="5044380"/>
            <a:ext cx="113853" cy="114300"/>
          </a:xfrm>
          <a:prstGeom prst="roundRect">
            <a:avLst>
              <a:gd name="adj" fmla="val 25098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16896" y="5044380"/>
            <a:ext cx="113853" cy="114300"/>
          </a:xfrm>
          <a:prstGeom prst="roundRect">
            <a:avLst>
              <a:gd name="adj" fmla="val 25098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25" y="2482155"/>
            <a:ext cx="2190750" cy="2190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INFERENCE FOOTPRINT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781050"/>
            <a:ext cx="113538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VRAM Distribution in Long-Context Serving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2525017"/>
            <a:ext cx="56292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PagedAttention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2829817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Near-zero memory fragmentation in batch serving.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639442"/>
            <a:ext cx="56292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Grouped-Query 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944242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8× reduction in active key-value tensor size.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753867"/>
            <a:ext cx="56292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FP8 / INT4 Quantization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5058667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Half the memory footprint with negligible loss.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253" y="4901505"/>
            <a:ext cx="133766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Weights (50%)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224" y="4901505"/>
            <a:ext cx="147042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KV Cache (35%)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6949" y="4901505"/>
            <a:ext cx="15558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Activations (15%)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2872680"/>
            <a:ext cx="10515600" cy="2286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8200" y="3568005"/>
            <a:ext cx="10515600" cy="2286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8200" y="4263330"/>
            <a:ext cx="10515600" cy="2286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8200" y="4958655"/>
            <a:ext cx="10515600" cy="2286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2872680"/>
            <a:ext cx="10073878" cy="228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200" y="3568005"/>
            <a:ext cx="9379892" cy="228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8200" y="4263330"/>
            <a:ext cx="8244185" cy="228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8200" y="4958655"/>
            <a:ext cx="5425975" cy="228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EVALUATION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781050"/>
            <a:ext cx="113538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Frontier vs. Baseline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96455"/>
            <a:ext cx="48220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Inter"/>
              </a:rPr>
              <a:t>GSM8K (Complex Mathematical Reasoning)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48850" y="2596455"/>
            <a:ext cx="1881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563EB"/>
                </a:solidFill>
                <a:latin typeface="Inter"/>
              </a:rPr>
              <a:t>95.8% vs. 84.2%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291780"/>
            <a:ext cx="4619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Inter"/>
              </a:rPr>
              <a:t>HumanEval (Zero-Shot Python Synthesis)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67900" y="3291780"/>
            <a:ext cx="185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563EB"/>
                </a:solidFill>
                <a:latin typeface="Inter"/>
              </a:rPr>
              <a:t>89.2% vs. 73.6%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987105"/>
            <a:ext cx="51077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Inter"/>
              </a:rPr>
              <a:t>MMLU-Pro (Multidisciplinary Academic Exam)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6475" y="3987105"/>
            <a:ext cx="18216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563EB"/>
                </a:solidFill>
                <a:latin typeface="Inter"/>
              </a:rPr>
              <a:t>78.4% vs. 62.1%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4682430"/>
            <a:ext cx="5595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Inter"/>
              </a:rPr>
              <a:t>SWE-bench Verified (Real Repository Engineering)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5050" y="4682430"/>
            <a:ext cx="1785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2563EB"/>
                </a:solidFill>
                <a:latin typeface="Inter"/>
              </a:rPr>
              <a:t>51.6% vs. 31.2%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67400" y="454149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49390" y="1811684"/>
            <a:ext cx="2893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Space Grotesk"/>
              </a:rPr>
              <a:t>STRATEGIC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0359" y="2202209"/>
            <a:ext cx="10251281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b="1" sz="4050" i="0" u="none">
                <a:solidFill>
                  <a:srgbClr val="F8FAFC"/>
                </a:solidFill>
                <a:latin typeface="Space Grotesk"/>
              </a:rPr>
              <a:t>Autonomous Agentic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5062" y="3665190"/>
            <a:ext cx="73818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Transitioning from passive sequence modeling to multi-step reasoning, external tool invocation, and environment interaction.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7187" y="4846290"/>
            <a:ext cx="3857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Questions &amp; Architectural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