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IBM Plex Sans"/>
      <p:regular r:id="rId201314"/>
    </p:embeddedFont>
    <p:embeddedFont>
      <p:font typeface="IBM Plex Sans SemiBold"/>
      <p:regular r:id="rId201315"/>
    </p:embeddedFont>
    <p:embeddedFont>
      <p:font typeface="IBM Plex Sans Bold"/>
      <p:regular r:id="rId201316"/>
    </p:embeddedFont>
    <p:embeddedFont>
      <p:font typeface="Sora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transition from viewing prompt engineering as creative wordsmithing to treating it as rigorous software system design. Across nine modules, we will examine task contracts, context partitioning, structured schemas, tool grounding, and systematic regression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Clever phrasing creates brittle systems. Production reliability demands that we design the task, context, constraints, tools, and feedback loop together as an integrated system, optimizing for consistency across all inputs rather than a single impressive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rigorous task contract establishes unambiguous expectations. Rather than letting the model guess during edge cases, we explicitly specify output requirements and force uncertainty to surface through structured diagnostic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delimiters such as XML tags isolate variables and context blocks from system directives. By ranking retrieval by relevance score and forcing chunk-level citations, we suppress context poisoning and hallucinated derivations.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isn't one-size-fits-all. Match the pattern to the workload: plan-then-execute for complex workflows, critique-and-revise when quality trumps speed, and branching self-consistency when dealing with high-uncertainty problem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Machine-checkable outputs turn unpredictable text into robust software interfaces. Validating outputs with tools like Pydantic or Zod before they enter databases or downstream APIs ensures that hallucinated structures trigger retries rather than production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Grounded models operate through strict protocols. Providing structured tool definitions, validating sandbox outputs, and defining explicit paths for refusal prevents confident hallucinations when external knowledge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prompt updates like software commits. Build representative test sets featuring both standard tasks and adversarial injections, comparing pass rates, token costs, and latency before shipping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start with the minimal viable contract, benchmark against difficult cases, cluster failures into actionable categories, and refine the whole system rather than tweaking words in isolation. This loop is what powers reliable production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2F4ED"/>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83C3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689458" cy="6858000"/>
          </a:xfrm>
          <a:prstGeom prst="rect">
            <a:avLst/>
          </a:prstGeom>
          <a:solidFill>
            <a:srgbClr val="083C35"/>
          </a:solidFill>
          <a:ln/>
        </p:spPr>
      </p:sp>
      <p:sp>
        <p:nvSpPr>
          <p:cNvPr id="3" name="Text 1"/>
          <p:cNvSpPr/>
          <p:nvPr/>
        </p:nvSpPr>
        <p:spPr>
          <a:xfrm>
            <a:off x="609585" y="618680"/>
            <a:ext cx="5079873"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FBDB7"/>
                </a:solidFill>
                <a:latin typeface="IBM Plex Sans SemiBold" pitchFamily="34" charset="0"/>
                <a:ea typeface="IBM Plex Sans SemiBold" pitchFamily="34" charset="-122"/>
                <a:cs typeface="IBM Plex Sans SemiBold" pitchFamily="34" charset="-120"/>
              </a:rPr>
              <a:t>ENGINEERING BRIEF</a:t>
            </a:r>
            <a:endParaRPr lang="en-US" sz="1100" dirty="0"/>
          </a:p>
        </p:txBody>
      </p:sp>
      <p:sp>
        <p:nvSpPr>
          <p:cNvPr id="4" name="Text 2"/>
          <p:cNvSpPr/>
          <p:nvPr/>
        </p:nvSpPr>
        <p:spPr>
          <a:xfrm>
            <a:off x="609585" y="977555"/>
            <a:ext cx="4673483" cy="1776710"/>
          </a:xfrm>
          <a:prstGeom prst="rect">
            <a:avLst/>
          </a:prstGeom>
          <a:noFill/>
          <a:ln/>
        </p:spPr>
        <p:txBody>
          <a:bodyPr wrap="square" lIns="0" tIns="0" rIns="0" bIns="0" rtlCol="0" anchor="t">
            <a:normAutofit/>
          </a:bodyPr>
          <a:lstStyle/>
          <a:p>
            <a:pPr algn="l"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Advanced Prompt Engineering</a:t>
            </a:r>
            <a:endParaRPr lang="en-US" sz="4400" dirty="0"/>
          </a:p>
        </p:txBody>
      </p:sp>
      <p:sp>
        <p:nvSpPr>
          <p:cNvPr id="5" name="Text 3"/>
          <p:cNvSpPr/>
          <p:nvPr/>
        </p:nvSpPr>
        <p:spPr>
          <a:xfrm>
            <a:off x="609585" y="2950734"/>
            <a:ext cx="4673483" cy="1206897"/>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Building reliable, production-grade LLM systems through rigorous specification, context architecture, and automated evaluation.</a:t>
            </a:r>
            <a:endParaRPr lang="en-US" sz="1800" dirty="0"/>
          </a:p>
        </p:txBody>
      </p:sp>
      <p:sp>
        <p:nvSpPr>
          <p:cNvPr id="6" name="Shape 4"/>
          <p:cNvSpPr/>
          <p:nvPr/>
        </p:nvSpPr>
        <p:spPr>
          <a:xfrm>
            <a:off x="609585" y="5617270"/>
            <a:ext cx="934617" cy="345182"/>
          </a:xfrm>
          <a:prstGeom prst="roundRect">
            <a:avLst>
              <a:gd name="adj" fmla="val 49999"/>
            </a:avLst>
          </a:prstGeom>
          <a:solidFill>
            <a:srgbClr val="0A7C78"/>
          </a:solidFill>
          <a:ln/>
        </p:spPr>
      </p:sp>
      <p:sp>
        <p:nvSpPr>
          <p:cNvPr id="7" name="Text 5"/>
          <p:cNvSpPr/>
          <p:nvPr/>
        </p:nvSpPr>
        <p:spPr>
          <a:xfrm>
            <a:off x="609585" y="5697661"/>
            <a:ext cx="934617" cy="192782"/>
          </a:xfrm>
          <a:prstGeom prst="rect">
            <a:avLst/>
          </a:prstGeom>
          <a:noFill/>
          <a:ln/>
        </p:spPr>
        <p:txBody>
          <a:bodyPr wrap="none" lIns="0" tIns="0" rIns="0" bIns="0" rtlCol="0" anchor="t"/>
          <a:lstStyle/>
          <a:p>
            <a:pPr algn="ctr" indent="0" marL="0">
              <a:lnSpc>
                <a:spcPct val="115000"/>
              </a:lnSpc>
              <a:buNone/>
            </a:pPr>
            <a:r>
              <a:rPr lang="en-US" sz="1100" b="1" dirty="0">
                <a:solidFill>
                  <a:srgbClr val="FFFFFF"/>
                </a:solidFill>
                <a:latin typeface="IBM Plex Sans Bold" pitchFamily="34" charset="0"/>
                <a:ea typeface="IBM Plex Sans Bold" pitchFamily="34" charset="-122"/>
                <a:cs typeface="IBM Plex Sans Bold" pitchFamily="34" charset="-120"/>
              </a:rPr>
              <a:t>Contract</a:t>
            </a:r>
            <a:endParaRPr lang="en-US" sz="1100" dirty="0"/>
          </a:p>
        </p:txBody>
      </p:sp>
      <p:sp>
        <p:nvSpPr>
          <p:cNvPr id="8" name="Shape 6"/>
          <p:cNvSpPr/>
          <p:nvPr/>
        </p:nvSpPr>
        <p:spPr>
          <a:xfrm>
            <a:off x="1544202" y="5770761"/>
            <a:ext cx="311638" cy="38100"/>
          </a:xfrm>
          <a:prstGeom prst="roundRect">
            <a:avLst>
              <a:gd name="adj" fmla="val 49999"/>
            </a:avLst>
          </a:prstGeom>
          <a:solidFill>
            <a:srgbClr val="0A7C78"/>
          </a:solidFill>
          <a:ln/>
        </p:spPr>
      </p:sp>
      <p:sp>
        <p:nvSpPr>
          <p:cNvPr id="9" name="Shape 7"/>
          <p:cNvSpPr/>
          <p:nvPr/>
        </p:nvSpPr>
        <p:spPr>
          <a:xfrm>
            <a:off x="1855840" y="5617270"/>
            <a:ext cx="934617" cy="345182"/>
          </a:xfrm>
          <a:prstGeom prst="roundRect">
            <a:avLst>
              <a:gd name="adj" fmla="val 49999"/>
            </a:avLst>
          </a:prstGeom>
          <a:solidFill>
            <a:srgbClr val="0A7C78"/>
          </a:solidFill>
          <a:ln/>
        </p:spPr>
      </p:sp>
      <p:sp>
        <p:nvSpPr>
          <p:cNvPr id="10" name="Text 8"/>
          <p:cNvSpPr/>
          <p:nvPr/>
        </p:nvSpPr>
        <p:spPr>
          <a:xfrm>
            <a:off x="1855840" y="5697661"/>
            <a:ext cx="934617" cy="192782"/>
          </a:xfrm>
          <a:prstGeom prst="rect">
            <a:avLst/>
          </a:prstGeom>
          <a:noFill/>
          <a:ln/>
        </p:spPr>
        <p:txBody>
          <a:bodyPr wrap="none" lIns="0" tIns="0" rIns="0" bIns="0" rtlCol="0" anchor="t"/>
          <a:lstStyle/>
          <a:p>
            <a:pPr algn="ctr" indent="0" marL="0">
              <a:lnSpc>
                <a:spcPct val="115000"/>
              </a:lnSpc>
              <a:buNone/>
            </a:pPr>
            <a:r>
              <a:rPr lang="en-US" sz="1100" b="1" dirty="0">
                <a:solidFill>
                  <a:srgbClr val="FFFFFF"/>
                </a:solidFill>
                <a:latin typeface="IBM Plex Sans Bold" pitchFamily="34" charset="0"/>
                <a:ea typeface="IBM Plex Sans Bold" pitchFamily="34" charset="-122"/>
                <a:cs typeface="IBM Plex Sans Bold" pitchFamily="34" charset="-120"/>
              </a:rPr>
              <a:t>Context</a:t>
            </a:r>
            <a:endParaRPr lang="en-US" sz="1100" dirty="0"/>
          </a:p>
        </p:txBody>
      </p:sp>
      <p:sp>
        <p:nvSpPr>
          <p:cNvPr id="11" name="Shape 9"/>
          <p:cNvSpPr/>
          <p:nvPr/>
        </p:nvSpPr>
        <p:spPr>
          <a:xfrm>
            <a:off x="2790458" y="5770761"/>
            <a:ext cx="311638" cy="38100"/>
          </a:xfrm>
          <a:prstGeom prst="roundRect">
            <a:avLst>
              <a:gd name="adj" fmla="val 49999"/>
            </a:avLst>
          </a:prstGeom>
          <a:solidFill>
            <a:srgbClr val="0A7C78"/>
          </a:solidFill>
          <a:ln/>
        </p:spPr>
      </p:sp>
      <p:sp>
        <p:nvSpPr>
          <p:cNvPr id="12" name="Shape 10"/>
          <p:cNvSpPr/>
          <p:nvPr/>
        </p:nvSpPr>
        <p:spPr>
          <a:xfrm>
            <a:off x="3102096" y="5617270"/>
            <a:ext cx="934617" cy="345182"/>
          </a:xfrm>
          <a:prstGeom prst="roundRect">
            <a:avLst>
              <a:gd name="adj" fmla="val 49999"/>
            </a:avLst>
          </a:prstGeom>
          <a:solidFill>
            <a:srgbClr val="0A7C78"/>
          </a:solidFill>
          <a:ln/>
        </p:spPr>
      </p:sp>
      <p:sp>
        <p:nvSpPr>
          <p:cNvPr id="13" name="Text 11"/>
          <p:cNvSpPr/>
          <p:nvPr/>
        </p:nvSpPr>
        <p:spPr>
          <a:xfrm>
            <a:off x="3102096" y="5697661"/>
            <a:ext cx="934617" cy="192782"/>
          </a:xfrm>
          <a:prstGeom prst="rect">
            <a:avLst/>
          </a:prstGeom>
          <a:noFill/>
          <a:ln/>
        </p:spPr>
        <p:txBody>
          <a:bodyPr wrap="none" lIns="0" tIns="0" rIns="0" bIns="0" rtlCol="0" anchor="t"/>
          <a:lstStyle/>
          <a:p>
            <a:pPr algn="ctr" indent="0" marL="0">
              <a:lnSpc>
                <a:spcPct val="115000"/>
              </a:lnSpc>
              <a:buNone/>
            </a:pPr>
            <a:r>
              <a:rPr lang="en-US" sz="1100" b="1" dirty="0">
                <a:solidFill>
                  <a:srgbClr val="FFFFFF"/>
                </a:solidFill>
                <a:latin typeface="IBM Plex Sans Bold" pitchFamily="34" charset="0"/>
                <a:ea typeface="IBM Plex Sans Bold" pitchFamily="34" charset="-122"/>
                <a:cs typeface="IBM Plex Sans Bold" pitchFamily="34" charset="-120"/>
              </a:rPr>
              <a:t>Tools</a:t>
            </a:r>
            <a:endParaRPr lang="en-US" sz="1100" dirty="0"/>
          </a:p>
        </p:txBody>
      </p:sp>
      <p:sp>
        <p:nvSpPr>
          <p:cNvPr id="14" name="Shape 12"/>
          <p:cNvSpPr/>
          <p:nvPr/>
        </p:nvSpPr>
        <p:spPr>
          <a:xfrm>
            <a:off x="4036713" y="5770761"/>
            <a:ext cx="311638" cy="38100"/>
          </a:xfrm>
          <a:prstGeom prst="roundRect">
            <a:avLst>
              <a:gd name="adj" fmla="val 49999"/>
            </a:avLst>
          </a:prstGeom>
          <a:solidFill>
            <a:srgbClr val="0A7C78"/>
          </a:solidFill>
          <a:ln/>
        </p:spPr>
      </p:sp>
      <p:sp>
        <p:nvSpPr>
          <p:cNvPr id="15" name="Shape 13"/>
          <p:cNvSpPr/>
          <p:nvPr/>
        </p:nvSpPr>
        <p:spPr>
          <a:xfrm>
            <a:off x="4348351" y="5617270"/>
            <a:ext cx="934617" cy="345182"/>
          </a:xfrm>
          <a:prstGeom prst="roundRect">
            <a:avLst>
              <a:gd name="adj" fmla="val 49999"/>
            </a:avLst>
          </a:prstGeom>
          <a:solidFill>
            <a:srgbClr val="F26A3D"/>
          </a:solidFill>
          <a:ln/>
        </p:spPr>
      </p:sp>
      <p:sp>
        <p:nvSpPr>
          <p:cNvPr id="16" name="Text 14"/>
          <p:cNvSpPr/>
          <p:nvPr/>
        </p:nvSpPr>
        <p:spPr>
          <a:xfrm>
            <a:off x="4348351" y="5697661"/>
            <a:ext cx="934617" cy="192782"/>
          </a:xfrm>
          <a:prstGeom prst="rect">
            <a:avLst/>
          </a:prstGeom>
          <a:noFill/>
          <a:ln/>
        </p:spPr>
        <p:txBody>
          <a:bodyPr wrap="none" lIns="0" tIns="0" rIns="0" bIns="0" rtlCol="0" anchor="t"/>
          <a:lstStyle/>
          <a:p>
            <a:pPr algn="ctr" indent="0" marL="0">
              <a:lnSpc>
                <a:spcPct val="115000"/>
              </a:lnSpc>
              <a:buNone/>
            </a:pPr>
            <a:r>
              <a:rPr lang="en-US" sz="1100" b="1" dirty="0">
                <a:solidFill>
                  <a:srgbClr val="10201D"/>
                </a:solidFill>
                <a:latin typeface="IBM Plex Sans Bold" pitchFamily="34" charset="0"/>
                <a:ea typeface="IBM Plex Sans Bold" pitchFamily="34" charset="-122"/>
                <a:cs typeface="IBM Plex Sans Bold" pitchFamily="34" charset="-120"/>
              </a:rPr>
              <a:t>Eval Loop</a:t>
            </a:r>
            <a:endParaRPr lang="en-US" sz="1100" dirty="0"/>
          </a:p>
        </p:txBody>
      </p:sp>
      <p:sp>
        <p:nvSpPr>
          <p:cNvPr id="17" name="Text 15"/>
          <p:cNvSpPr/>
          <p:nvPr/>
        </p:nvSpPr>
        <p:spPr>
          <a:xfrm>
            <a:off x="609585" y="6171938"/>
            <a:ext cx="5079873" cy="184348"/>
          </a:xfrm>
          <a:prstGeom prst="rect">
            <a:avLst/>
          </a:prstGeom>
          <a:noFill/>
          <a:ln/>
        </p:spPr>
        <p:txBody>
          <a:bodyPr wrap="none" lIns="0" tIns="0" rIns="0" bIns="0" rtlCol="0" anchor="t"/>
          <a:lstStyle/>
          <a:p>
            <a:pPr algn="l" indent="0" marL="0">
              <a:lnSpc>
                <a:spcPct val="110000"/>
              </a:lnSpc>
              <a:buNone/>
            </a:pPr>
            <a:r>
              <a:rPr lang="en-US" sz="1100" dirty="0">
                <a:solidFill>
                  <a:srgbClr val="FFFFFF"/>
                </a:solidFill>
                <a:latin typeface="IBM Plex Sans" pitchFamily="34" charset="0"/>
                <a:ea typeface="IBM Plex Sans" pitchFamily="34" charset="-122"/>
                <a:cs typeface="IBM Plex Sans" pitchFamily="34" charset="-120"/>
              </a:rPr>
              <a:t>Technical Architecture Series · Production AI Systems</a:t>
            </a:r>
            <a:endParaRPr lang="en-US" sz="1100" dirty="0"/>
          </a:p>
        </p:txBody>
      </p:sp>
      <p:pic>
        <p:nvPicPr>
          <p:cNvPr id="18" name="Image 0" descr="preencoded.png">    </p:cNvPr>
          <p:cNvPicPr>
            <a:picLocks noChangeAspect="1"/>
          </p:cNvPicPr>
          <p:nvPr/>
        </p:nvPicPr>
        <p:blipFill>
          <a:blip r:embed="rId1"/>
          <a:stretch>
            <a:fillRect/>
          </a:stretch>
        </p:blipFill>
        <p:spPr>
          <a:xfrm>
            <a:off x="6146646" y="457200"/>
            <a:ext cx="5587860" cy="5943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4662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CORE ARCHITECTURE</a:t>
            </a:r>
            <a:endParaRPr lang="en-US" sz="1100" dirty="0"/>
          </a:p>
        </p:txBody>
      </p:sp>
      <p:sp>
        <p:nvSpPr>
          <p:cNvPr id="3" name="Text 1"/>
          <p:cNvSpPr/>
          <p:nvPr/>
        </p:nvSpPr>
        <p:spPr>
          <a:xfrm>
            <a:off x="558786" y="765147"/>
            <a:ext cx="11124922"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Prompting is system design, not clever wording</a:t>
            </a:r>
            <a:endParaRPr lang="en-US" sz="3400" dirty="0"/>
          </a:p>
        </p:txBody>
      </p:sp>
      <p:sp>
        <p:nvSpPr>
          <p:cNvPr id="4" name="Text 2"/>
          <p:cNvSpPr/>
          <p:nvPr/>
        </p:nvSpPr>
        <p:spPr>
          <a:xfrm>
            <a:off x="558786" y="1450110"/>
            <a:ext cx="11124922"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Reliable prompts design the task, context, constraints, tools, and feedback loop together—optimizing behavior across varied inputs, not one impressive answer.</a:t>
            </a:r>
            <a:endParaRPr lang="en-US" sz="1700" dirty="0"/>
          </a:p>
        </p:txBody>
      </p:sp>
      <p:sp>
        <p:nvSpPr>
          <p:cNvPr id="5" name="Shape 3"/>
          <p:cNvSpPr/>
          <p:nvPr/>
        </p:nvSpPr>
        <p:spPr>
          <a:xfrm>
            <a:off x="558786" y="2242542"/>
            <a:ext cx="5333867" cy="4135140"/>
          </a:xfrm>
          <a:prstGeom prst="rect">
            <a:avLst/>
          </a:prstGeom>
          <a:solidFill>
            <a:srgbClr val="FFFFFF"/>
          </a:solidFill>
          <a:ln w="6350">
            <a:solidFill>
              <a:srgbClr val="CBD4CE"/>
            </a:solidFill>
            <a:prstDash val="solid"/>
          </a:ln>
        </p:spPr>
      </p:sp>
      <p:sp>
        <p:nvSpPr>
          <p:cNvPr id="6" name="Shape 4"/>
          <p:cNvSpPr/>
          <p:nvPr/>
        </p:nvSpPr>
        <p:spPr>
          <a:xfrm>
            <a:off x="844529" y="2502892"/>
            <a:ext cx="2667330" cy="343495"/>
          </a:xfrm>
          <a:prstGeom prst="roundRect">
            <a:avLst>
              <a:gd name="adj" fmla="val 21118"/>
            </a:avLst>
          </a:prstGeom>
          <a:solidFill>
            <a:srgbClr val="D2F9F4"/>
          </a:solidFill>
          <a:ln/>
        </p:spPr>
      </p:sp>
      <p:sp>
        <p:nvSpPr>
          <p:cNvPr id="7" name="Text 5"/>
          <p:cNvSpPr/>
          <p:nvPr/>
        </p:nvSpPr>
        <p:spPr>
          <a:xfrm>
            <a:off x="974006" y="2580715"/>
            <a:ext cx="3017960" cy="214114"/>
          </a:xfrm>
          <a:prstGeom prst="rect">
            <a:avLst/>
          </a:prstGeom>
          <a:noFill/>
          <a:ln/>
        </p:spPr>
        <p:txBody>
          <a:bodyPr wrap="none" lIns="0" tIns="0" rIns="0" bIns="0" rtlCol="0" anchor="t"/>
          <a:lstStyle/>
          <a:p>
            <a:pPr algn="l" indent="0" marL="0">
              <a:lnSpc>
                <a:spcPct val="103000"/>
              </a:lnSpc>
              <a:buNone/>
            </a:pPr>
            <a:r>
              <a:rPr lang="en-US" sz="1350" spc="14" kern="100" dirty="0">
                <a:solidFill>
                  <a:srgbClr val="10201D"/>
                </a:solidFill>
                <a:latin typeface="IBM Plex Sans SemiBold" pitchFamily="34" charset="0"/>
                <a:ea typeface="IBM Plex Sans SemiBold" pitchFamily="34" charset="-122"/>
                <a:cs typeface="IBM Plex Sans SemiBold" pitchFamily="34" charset="-120"/>
              </a:rPr>
              <a:t>THE FRAGILE INTENT MODEL</a:t>
            </a:r>
            <a:endParaRPr lang="en-US" sz="1350" dirty="0"/>
          </a:p>
        </p:txBody>
      </p:sp>
      <p:sp>
        <p:nvSpPr>
          <p:cNvPr id="8" name="Text 6"/>
          <p:cNvSpPr/>
          <p:nvPr/>
        </p:nvSpPr>
        <p:spPr>
          <a:xfrm>
            <a:off x="844529" y="2987104"/>
            <a:ext cx="4762381"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Intuitive "Clever" Phrasing</a:t>
            </a:r>
            <a:endParaRPr lang="en-US" sz="2400" dirty="0"/>
          </a:p>
        </p:txBody>
      </p:sp>
      <p:sp>
        <p:nvSpPr>
          <p:cNvPr id="9" name="Text 7"/>
          <p:cNvSpPr/>
          <p:nvPr/>
        </p:nvSpPr>
        <p:spPr>
          <a:xfrm>
            <a:off x="844529" y="3565204"/>
            <a:ext cx="4762381" cy="735806"/>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Focuses on finding magic keywords, polite cajoling, or monolithic prompt blobs that work on one specific seed input but collapse across edge distributions.</a:t>
            </a:r>
            <a:endParaRPr lang="en-US" sz="1400" dirty="0"/>
          </a:p>
        </p:txBody>
      </p:sp>
      <p:sp>
        <p:nvSpPr>
          <p:cNvPr id="10" name="Shape 8"/>
          <p:cNvSpPr/>
          <p:nvPr/>
        </p:nvSpPr>
        <p:spPr>
          <a:xfrm>
            <a:off x="844529" y="4448076"/>
            <a:ext cx="4762381" cy="454819"/>
          </a:xfrm>
          <a:prstGeom prst="roundRect">
            <a:avLst>
              <a:gd name="adj" fmla="val 19937"/>
            </a:avLst>
          </a:prstGeom>
          <a:solidFill>
            <a:srgbClr val="FFFFFF"/>
          </a:solidFill>
          <a:ln/>
        </p:spPr>
      </p:sp>
      <p:sp>
        <p:nvSpPr>
          <p:cNvPr id="11" name="Text 9"/>
          <p:cNvSpPr/>
          <p:nvPr/>
        </p:nvSpPr>
        <p:spPr>
          <a:xfrm>
            <a:off x="971526" y="4555010"/>
            <a:ext cx="4635384" cy="251619"/>
          </a:xfrm>
          <a:prstGeom prst="rect">
            <a:avLst/>
          </a:prstGeom>
          <a:noFill/>
          <a:ln/>
        </p:spPr>
        <p:txBody>
          <a:bodyPr wrap="none" lIns="0" tIns="0" rIns="0" bIns="0" rtlCol="0" anchor="t"/>
          <a:lstStyle/>
          <a:p>
            <a:pPr algn="l" indent="0" marL="0">
              <a:lnSpc>
                <a:spcPct val="115000"/>
              </a:lnSpc>
              <a:buNone/>
            </a:pPr>
            <a:r>
              <a:rPr lang="en-US" sz="1400" dirty="0">
                <a:solidFill>
                  <a:srgbClr val="000000"/>
                </a:solidFill>
                <a:latin typeface="Noto Color Emoji" pitchFamily="34" charset="0"/>
                <a:ea typeface="Noto Color Emoji" pitchFamily="34" charset="-122"/>
                <a:cs typeface="Noto Color Emoji" pitchFamily="34" charset="-120"/>
              </a:rPr>
              <a:t>❌</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High variance across model revisions</a:t>
            </a:r>
            <a:endParaRPr lang="en-US" sz="1400" dirty="0"/>
          </a:p>
        </p:txBody>
      </p:sp>
      <p:sp>
        <p:nvSpPr>
          <p:cNvPr id="12" name="Shape 10"/>
          <p:cNvSpPr/>
          <p:nvPr/>
        </p:nvSpPr>
        <p:spPr>
          <a:xfrm>
            <a:off x="844529" y="5055295"/>
            <a:ext cx="4762381" cy="454819"/>
          </a:xfrm>
          <a:prstGeom prst="roundRect">
            <a:avLst>
              <a:gd name="adj" fmla="val 19937"/>
            </a:avLst>
          </a:prstGeom>
          <a:solidFill>
            <a:srgbClr val="FFFFFF"/>
          </a:solidFill>
          <a:ln/>
        </p:spPr>
      </p:sp>
      <p:sp>
        <p:nvSpPr>
          <p:cNvPr id="13" name="Text 11"/>
          <p:cNvSpPr/>
          <p:nvPr/>
        </p:nvSpPr>
        <p:spPr>
          <a:xfrm>
            <a:off x="971526" y="5162229"/>
            <a:ext cx="4635384" cy="251619"/>
          </a:xfrm>
          <a:prstGeom prst="rect">
            <a:avLst/>
          </a:prstGeom>
          <a:noFill/>
          <a:ln/>
        </p:spPr>
        <p:txBody>
          <a:bodyPr wrap="none" lIns="0" tIns="0" rIns="0" bIns="0" rtlCol="0" anchor="t"/>
          <a:lstStyle/>
          <a:p>
            <a:pPr algn="l" indent="0" marL="0">
              <a:lnSpc>
                <a:spcPct val="115000"/>
              </a:lnSpc>
              <a:buNone/>
            </a:pPr>
            <a:r>
              <a:rPr lang="en-US" sz="1400" dirty="0">
                <a:solidFill>
                  <a:srgbClr val="000000"/>
                </a:solidFill>
                <a:latin typeface="Noto Color Emoji" pitchFamily="34" charset="0"/>
                <a:ea typeface="Noto Color Emoji" pitchFamily="34" charset="-122"/>
                <a:cs typeface="Noto Color Emoji" pitchFamily="34" charset="-120"/>
              </a:rPr>
              <a:t>❌</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Latent failure modes hidden by single tests</a:t>
            </a:r>
            <a:endParaRPr lang="en-US" sz="1400" dirty="0"/>
          </a:p>
        </p:txBody>
      </p:sp>
      <p:sp>
        <p:nvSpPr>
          <p:cNvPr id="14" name="Shape 12"/>
          <p:cNvSpPr/>
          <p:nvPr/>
        </p:nvSpPr>
        <p:spPr>
          <a:xfrm>
            <a:off x="844529" y="5662513"/>
            <a:ext cx="4762381" cy="454819"/>
          </a:xfrm>
          <a:prstGeom prst="roundRect">
            <a:avLst>
              <a:gd name="adj" fmla="val 19937"/>
            </a:avLst>
          </a:prstGeom>
          <a:solidFill>
            <a:srgbClr val="FFFFFF"/>
          </a:solidFill>
          <a:ln/>
        </p:spPr>
      </p:sp>
      <p:sp>
        <p:nvSpPr>
          <p:cNvPr id="15" name="Text 13"/>
          <p:cNvSpPr/>
          <p:nvPr/>
        </p:nvSpPr>
        <p:spPr>
          <a:xfrm>
            <a:off x="971526" y="5769447"/>
            <a:ext cx="4635384" cy="251619"/>
          </a:xfrm>
          <a:prstGeom prst="rect">
            <a:avLst/>
          </a:prstGeom>
          <a:noFill/>
          <a:ln/>
        </p:spPr>
        <p:txBody>
          <a:bodyPr wrap="none" lIns="0" tIns="0" rIns="0" bIns="0" rtlCol="0" anchor="t"/>
          <a:lstStyle/>
          <a:p>
            <a:pPr algn="l" indent="0" marL="0">
              <a:lnSpc>
                <a:spcPct val="115000"/>
              </a:lnSpc>
              <a:buNone/>
            </a:pPr>
            <a:r>
              <a:rPr lang="en-US" sz="1400" dirty="0">
                <a:solidFill>
                  <a:srgbClr val="000000"/>
                </a:solidFill>
                <a:latin typeface="Noto Color Emoji" pitchFamily="34" charset="0"/>
                <a:ea typeface="Noto Color Emoji" pitchFamily="34" charset="-122"/>
                <a:cs typeface="Noto Color Emoji" pitchFamily="34" charset="-120"/>
              </a:rPr>
              <a:t>❌</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Unmaintainable prose with intertwined concerns</a:t>
            </a:r>
            <a:endParaRPr lang="en-US" sz="1400" dirty="0"/>
          </a:p>
        </p:txBody>
      </p:sp>
      <p:sp>
        <p:nvSpPr>
          <p:cNvPr id="16" name="Shape 14"/>
          <p:cNvSpPr/>
          <p:nvPr/>
        </p:nvSpPr>
        <p:spPr>
          <a:xfrm>
            <a:off x="6349841" y="2242542"/>
            <a:ext cx="5333867" cy="4135140"/>
          </a:xfrm>
          <a:prstGeom prst="rect">
            <a:avLst/>
          </a:prstGeom>
          <a:solidFill>
            <a:srgbClr val="FFFFFF"/>
          </a:solidFill>
          <a:ln w="6350">
            <a:solidFill>
              <a:srgbClr val="CBD4CE"/>
            </a:solidFill>
            <a:prstDash val="solid"/>
          </a:ln>
        </p:spPr>
      </p:sp>
      <p:sp>
        <p:nvSpPr>
          <p:cNvPr id="17" name="Shape 15"/>
          <p:cNvSpPr/>
          <p:nvPr/>
        </p:nvSpPr>
        <p:spPr>
          <a:xfrm>
            <a:off x="6635584" y="2502892"/>
            <a:ext cx="2578036" cy="343495"/>
          </a:xfrm>
          <a:prstGeom prst="roundRect">
            <a:avLst>
              <a:gd name="adj" fmla="val 21118"/>
            </a:avLst>
          </a:prstGeom>
          <a:solidFill>
            <a:srgbClr val="D2F9F4"/>
          </a:solidFill>
          <a:ln/>
        </p:spPr>
      </p:sp>
      <p:sp>
        <p:nvSpPr>
          <p:cNvPr id="18" name="Text 16"/>
          <p:cNvSpPr/>
          <p:nvPr/>
        </p:nvSpPr>
        <p:spPr>
          <a:xfrm>
            <a:off x="6765061" y="2580715"/>
            <a:ext cx="2928666" cy="214114"/>
          </a:xfrm>
          <a:prstGeom prst="rect">
            <a:avLst/>
          </a:prstGeom>
          <a:noFill/>
          <a:ln/>
        </p:spPr>
        <p:txBody>
          <a:bodyPr wrap="none" lIns="0" tIns="0" rIns="0" bIns="0" rtlCol="0" anchor="t"/>
          <a:lstStyle/>
          <a:p>
            <a:pPr algn="l" indent="0" marL="0">
              <a:lnSpc>
                <a:spcPct val="103000"/>
              </a:lnSpc>
              <a:buNone/>
            </a:pPr>
            <a:r>
              <a:rPr lang="en-US" sz="1350" spc="14" kern="100" dirty="0">
                <a:solidFill>
                  <a:srgbClr val="10201D"/>
                </a:solidFill>
                <a:latin typeface="IBM Plex Sans SemiBold" pitchFamily="34" charset="0"/>
                <a:ea typeface="IBM Plex Sans SemiBold" pitchFamily="34" charset="-122"/>
                <a:cs typeface="IBM Plex Sans SemiBold" pitchFamily="34" charset="-120"/>
              </a:rPr>
              <a:t>SYSTEM DESIGN PARADIGM</a:t>
            </a:r>
            <a:endParaRPr lang="en-US" sz="1350" dirty="0"/>
          </a:p>
        </p:txBody>
      </p:sp>
      <p:sp>
        <p:nvSpPr>
          <p:cNvPr id="19" name="Text 17"/>
          <p:cNvSpPr/>
          <p:nvPr/>
        </p:nvSpPr>
        <p:spPr>
          <a:xfrm>
            <a:off x="6635584" y="2987104"/>
            <a:ext cx="4762381"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Engineered Component Stack</a:t>
            </a:r>
            <a:endParaRPr lang="en-US" sz="2400" dirty="0"/>
          </a:p>
        </p:txBody>
      </p:sp>
      <p:sp>
        <p:nvSpPr>
          <p:cNvPr id="20" name="Text 18"/>
          <p:cNvSpPr/>
          <p:nvPr/>
        </p:nvSpPr>
        <p:spPr>
          <a:xfrm>
            <a:off x="6635584" y="3565204"/>
            <a:ext cx="4762381" cy="735806"/>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Decouples execution into task definitions, ranked context, runtime constraints, tool interfaces, and automated post-generation validators.</a:t>
            </a:r>
            <a:endParaRPr lang="en-US" sz="1400" dirty="0"/>
          </a:p>
        </p:txBody>
      </p:sp>
      <p:sp>
        <p:nvSpPr>
          <p:cNvPr id="21" name="Shape 19"/>
          <p:cNvSpPr/>
          <p:nvPr/>
        </p:nvSpPr>
        <p:spPr>
          <a:xfrm>
            <a:off x="6635584" y="4448076"/>
            <a:ext cx="4762381" cy="448469"/>
          </a:xfrm>
          <a:prstGeom prst="rect">
            <a:avLst/>
          </a:prstGeom>
          <a:solidFill>
            <a:srgbClr val="F2F4ED"/>
          </a:solidFill>
          <a:ln/>
        </p:spPr>
      </p:sp>
      <p:sp>
        <p:nvSpPr>
          <p:cNvPr id="22" name="Text 20"/>
          <p:cNvSpPr/>
          <p:nvPr/>
        </p:nvSpPr>
        <p:spPr>
          <a:xfrm>
            <a:off x="6762581" y="4555010"/>
            <a:ext cx="4635384" cy="245269"/>
          </a:xfrm>
          <a:prstGeom prst="rect">
            <a:avLst/>
          </a:prstGeom>
          <a:noFill/>
          <a:ln/>
        </p:spPr>
        <p:txBody>
          <a:bodyPr wrap="none" lIns="0" tIns="0" rIns="0" bIns="0" rtlCol="0" anchor="t"/>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Deterministic Schemas:</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Strict JSON outputs</a:t>
            </a:r>
            <a:endParaRPr lang="en-US" sz="1400" dirty="0"/>
          </a:p>
        </p:txBody>
      </p:sp>
      <p:sp>
        <p:nvSpPr>
          <p:cNvPr id="23" name="Shape 21"/>
          <p:cNvSpPr/>
          <p:nvPr/>
        </p:nvSpPr>
        <p:spPr>
          <a:xfrm>
            <a:off x="6635584" y="5048945"/>
            <a:ext cx="4762381" cy="448469"/>
          </a:xfrm>
          <a:prstGeom prst="rect">
            <a:avLst/>
          </a:prstGeom>
          <a:solidFill>
            <a:srgbClr val="F2F4ED"/>
          </a:solidFill>
          <a:ln/>
        </p:spPr>
      </p:sp>
      <p:sp>
        <p:nvSpPr>
          <p:cNvPr id="24" name="Text 22"/>
          <p:cNvSpPr/>
          <p:nvPr/>
        </p:nvSpPr>
        <p:spPr>
          <a:xfrm>
            <a:off x="6762581" y="5155879"/>
            <a:ext cx="4635384" cy="245269"/>
          </a:xfrm>
          <a:prstGeom prst="rect">
            <a:avLst/>
          </a:prstGeom>
          <a:noFill/>
          <a:ln/>
        </p:spPr>
        <p:txBody>
          <a:bodyPr wrap="none" lIns="0" tIns="0" rIns="0" bIns="0" rtlCol="0" anchor="t"/>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Bounded Grounding:</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Isolated tools with strict fallback</a:t>
            </a:r>
            <a:endParaRPr lang="en-US" sz="1400" dirty="0"/>
          </a:p>
        </p:txBody>
      </p:sp>
      <p:sp>
        <p:nvSpPr>
          <p:cNvPr id="25" name="Shape 23"/>
          <p:cNvSpPr/>
          <p:nvPr/>
        </p:nvSpPr>
        <p:spPr>
          <a:xfrm>
            <a:off x="6635584" y="5649813"/>
            <a:ext cx="4762381" cy="448469"/>
          </a:xfrm>
          <a:prstGeom prst="rect">
            <a:avLst/>
          </a:prstGeom>
          <a:solidFill>
            <a:srgbClr val="F2F4ED"/>
          </a:solidFill>
          <a:ln/>
        </p:spPr>
      </p:sp>
      <p:sp>
        <p:nvSpPr>
          <p:cNvPr id="26" name="Text 24"/>
          <p:cNvSpPr/>
          <p:nvPr/>
        </p:nvSpPr>
        <p:spPr>
          <a:xfrm>
            <a:off x="6762581" y="5756747"/>
            <a:ext cx="4635384" cy="245269"/>
          </a:xfrm>
          <a:prstGeom prst="rect">
            <a:avLst/>
          </a:prstGeom>
          <a:noFill/>
          <a:ln/>
        </p:spPr>
        <p:txBody>
          <a:bodyPr wrap="none" lIns="0" tIns="0" rIns="0" bIns="0" rtlCol="0" anchor="t"/>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Distributional Testing:</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Benchmark sweeps across splits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86" y="466280"/>
            <a:ext cx="716262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CONTRACT SPECIFICATION</a:t>
            </a:r>
            <a:endParaRPr lang="en-US" sz="1100" dirty="0"/>
          </a:p>
        </p:txBody>
      </p:sp>
      <p:sp>
        <p:nvSpPr>
          <p:cNvPr id="3" name="Text 1"/>
          <p:cNvSpPr/>
          <p:nvPr/>
        </p:nvSpPr>
        <p:spPr>
          <a:xfrm>
            <a:off x="558786" y="765147"/>
            <a:ext cx="6705432" cy="915392"/>
          </a:xfrm>
          <a:prstGeom prst="rect">
            <a:avLst/>
          </a:prstGeom>
          <a:noFill/>
          <a:ln/>
        </p:spPr>
        <p:txBody>
          <a:bodyPr wrap="square" lIns="0" tIns="0" rIns="0" bIns="0" rtlCol="0" anchor="t">
            <a:normAutofit/>
          </a:bodyPr>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Start with a precise task contract</a:t>
            </a:r>
            <a:endParaRPr lang="en-US" sz="3400" dirty="0"/>
          </a:p>
        </p:txBody>
      </p:sp>
      <p:sp>
        <p:nvSpPr>
          <p:cNvPr id="4" name="Text 2"/>
          <p:cNvSpPr/>
          <p:nvPr/>
        </p:nvSpPr>
        <p:spPr>
          <a:xfrm>
            <a:off x="558786" y="1907806"/>
            <a:ext cx="6705432"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Like API contracts, precise prompts define ambiguity; otherwise models guess probabilistically, causing silent regressions.</a:t>
            </a:r>
            <a:endParaRPr lang="en-US" sz="1700" dirty="0"/>
          </a:p>
        </p:txBody>
      </p:sp>
      <p:sp>
        <p:nvSpPr>
          <p:cNvPr id="5" name="Shape 3"/>
          <p:cNvSpPr/>
          <p:nvPr/>
        </p:nvSpPr>
        <p:spPr>
          <a:xfrm>
            <a:off x="558786" y="2547838"/>
            <a:ext cx="6705432" cy="1066006"/>
          </a:xfrm>
          <a:prstGeom prst="roundRect">
            <a:avLst>
              <a:gd name="adj" fmla="val 20014"/>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774681" y="2789404"/>
            <a:ext cx="1591627"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Explicit Objective</a:t>
            </a:r>
            <a:endParaRPr lang="en-US" sz="1800" dirty="0"/>
          </a:p>
        </p:txBody>
      </p:sp>
      <p:sp>
        <p:nvSpPr>
          <p:cNvPr id="7" name="Text 5"/>
          <p:cNvSpPr/>
          <p:nvPr/>
        </p:nvSpPr>
        <p:spPr>
          <a:xfrm>
            <a:off x="2671001" y="2718272"/>
            <a:ext cx="4377323" cy="735806"/>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Before task material, define target transformation, intended consumer (human reviewer vs. parser), and acceptance gates.</a:t>
            </a:r>
            <a:endParaRPr lang="en-US" sz="1400" dirty="0"/>
          </a:p>
        </p:txBody>
      </p:sp>
      <p:sp>
        <p:nvSpPr>
          <p:cNvPr id="8" name="Shape 6"/>
          <p:cNvSpPr/>
          <p:nvPr/>
        </p:nvSpPr>
        <p:spPr>
          <a:xfrm>
            <a:off x="558786" y="3766245"/>
            <a:ext cx="6705432" cy="1066006"/>
          </a:xfrm>
          <a:prstGeom prst="roundRect">
            <a:avLst>
              <a:gd name="adj" fmla="val 20014"/>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9" name="Text 7"/>
          <p:cNvSpPr/>
          <p:nvPr/>
        </p:nvSpPr>
        <p:spPr>
          <a:xfrm>
            <a:off x="774681" y="4007810"/>
            <a:ext cx="1591627"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Boundary Constraints</a:t>
            </a:r>
            <a:endParaRPr lang="en-US" sz="1800" dirty="0"/>
          </a:p>
        </p:txBody>
      </p:sp>
      <p:sp>
        <p:nvSpPr>
          <p:cNvPr id="10" name="Text 8"/>
          <p:cNvSpPr/>
          <p:nvPr/>
        </p:nvSpPr>
        <p:spPr>
          <a:xfrm>
            <a:off x="2671001" y="3936679"/>
            <a:ext cx="4377323" cy="735806"/>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List negative constraints and hard failure conditions (e.g., forbidden keys, word bounds, required fallback formats).</a:t>
            </a:r>
            <a:endParaRPr lang="en-US" sz="1400" dirty="0"/>
          </a:p>
        </p:txBody>
      </p:sp>
      <p:sp>
        <p:nvSpPr>
          <p:cNvPr id="11" name="Shape 9"/>
          <p:cNvSpPr/>
          <p:nvPr/>
        </p:nvSpPr>
        <p:spPr>
          <a:xfrm>
            <a:off x="558786" y="4984651"/>
            <a:ext cx="6705432" cy="933648"/>
          </a:xfrm>
          <a:prstGeom prst="roundRect">
            <a:avLst>
              <a:gd name="adj" fmla="val 22852"/>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2" name="Text 10"/>
          <p:cNvSpPr/>
          <p:nvPr/>
        </p:nvSpPr>
        <p:spPr>
          <a:xfrm>
            <a:off x="774681" y="5160038"/>
            <a:ext cx="1591627"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Visible Ambiguity</a:t>
            </a:r>
            <a:endParaRPr lang="en-US" sz="1800" dirty="0"/>
          </a:p>
        </p:txBody>
      </p:sp>
      <p:sp>
        <p:nvSpPr>
          <p:cNvPr id="13" name="Text 11"/>
          <p:cNvSpPr/>
          <p:nvPr/>
        </p:nvSpPr>
        <p:spPr>
          <a:xfrm>
            <a:off x="2671001" y="5211540"/>
            <a:ext cx="4377323" cy="490537"/>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If data is incomplete, require a typed diagnostic or uncertainty flag instead of hallucination.</a:t>
            </a:r>
            <a:endParaRPr lang="en-US" sz="1400" dirty="0"/>
          </a:p>
        </p:txBody>
      </p:sp>
      <p:sp>
        <p:nvSpPr>
          <p:cNvPr id="14" name="Text 12"/>
          <p:cNvSpPr/>
          <p:nvPr/>
        </p:nvSpPr>
        <p:spPr>
          <a:xfrm>
            <a:off x="558786" y="6153186"/>
            <a:ext cx="6705432" cy="368697"/>
          </a:xfrm>
          <a:prstGeom prst="rect">
            <a:avLst/>
          </a:prstGeom>
          <a:noFill/>
          <a:ln/>
        </p:spPr>
        <p:txBody>
          <a:bodyPr wrap="square" lIns="0" tIns="0" rIns="0" bIns="0" rtlCol="0" anchor="t">
            <a:normAutofit/>
          </a:bodyPr>
          <a:lstStyle/>
          <a:p>
            <a:pPr algn="l" indent="0" marL="0">
              <a:lnSpc>
                <a:spcPct val="110000"/>
              </a:lnSpc>
              <a:buNone/>
            </a:pPr>
            <a:r>
              <a:rPr lang="en-US" sz="1100" dirty="0">
                <a:solidFill>
                  <a:srgbClr val="5F6D68"/>
                </a:solidFill>
                <a:latin typeface="IBM Plex Sans" pitchFamily="34" charset="0"/>
                <a:ea typeface="IBM Plex Sans" pitchFamily="34" charset="-122"/>
                <a:cs typeface="IBM Plex Sans" pitchFamily="34" charset="-120"/>
              </a:rPr>
              <a:t>Contract rule: Isolate system directives, reference context, few-shot examples, and output schemas in separate channels.</a:t>
            </a:r>
            <a:endParaRPr lang="en-US" sz="1100" dirty="0"/>
          </a:p>
        </p:txBody>
      </p:sp>
      <p:pic>
        <p:nvPicPr>
          <p:cNvPr id="15" name="Image 0" descr="preencoded.png">    </p:cNvPr>
          <p:cNvPicPr>
            <a:picLocks noChangeAspect="1"/>
          </p:cNvPicPr>
          <p:nvPr/>
        </p:nvPicPr>
        <p:blipFill>
          <a:blip r:embed="rId1"/>
          <a:stretch>
            <a:fillRect/>
          </a:stretch>
        </p:blipFill>
        <p:spPr>
          <a:xfrm>
            <a:off x="7721407" y="355600"/>
            <a:ext cx="4165496" cy="62107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4662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CONTEXT ARCHITECTURE</a:t>
            </a:r>
            <a:endParaRPr lang="en-US" sz="1100" dirty="0"/>
          </a:p>
        </p:txBody>
      </p:sp>
      <p:sp>
        <p:nvSpPr>
          <p:cNvPr id="3" name="Text 1"/>
          <p:cNvSpPr/>
          <p:nvPr/>
        </p:nvSpPr>
        <p:spPr>
          <a:xfrm>
            <a:off x="558786" y="7651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Use structured context to control complexity</a:t>
            </a:r>
            <a:endParaRPr lang="en-US" sz="3400" dirty="0"/>
          </a:p>
        </p:txBody>
      </p:sp>
      <p:sp>
        <p:nvSpPr>
          <p:cNvPr id="4" name="Text 2"/>
          <p:cNvSpPr/>
          <p:nvPr/>
        </p:nvSpPr>
        <p:spPr>
          <a:xfrm>
            <a:off x="558786" y="1450110"/>
            <a:ext cx="11074123"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Long contexts degrade model attention when presented as unstructured text. Structure incoming tokens with explicit tags, priority hierarchy, and citation keys.</a:t>
            </a:r>
            <a:endParaRPr lang="en-US" sz="1700" dirty="0"/>
          </a:p>
        </p:txBody>
      </p:sp>
      <p:pic>
        <p:nvPicPr>
          <p:cNvPr id="5" name="Image 0" descr="preencoded.png">    </p:cNvPr>
          <p:cNvPicPr>
            <a:picLocks noChangeAspect="1"/>
          </p:cNvPicPr>
          <p:nvPr/>
        </p:nvPicPr>
        <p:blipFill>
          <a:blip r:embed="rId1"/>
          <a:stretch>
            <a:fillRect/>
          </a:stretch>
        </p:blipFill>
        <p:spPr>
          <a:xfrm>
            <a:off x="558786" y="2217142"/>
            <a:ext cx="11074123" cy="38409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8786" y="4408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COGNITIVE PATTERNS</a:t>
            </a:r>
            <a:endParaRPr lang="en-US" sz="1100" dirty="0"/>
          </a:p>
        </p:txBody>
      </p:sp>
      <p:sp>
        <p:nvSpPr>
          <p:cNvPr id="3" name="Text 1"/>
          <p:cNvSpPr/>
          <p:nvPr/>
        </p:nvSpPr>
        <p:spPr>
          <a:xfrm>
            <a:off x="558786" y="739747"/>
            <a:ext cx="11124922"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Choose the right reasoning pattern</a:t>
            </a:r>
            <a:endParaRPr lang="en-US" sz="3400" dirty="0"/>
          </a:p>
        </p:txBody>
      </p:sp>
      <p:sp>
        <p:nvSpPr>
          <p:cNvPr id="4" name="Text 2"/>
          <p:cNvSpPr/>
          <p:nvPr/>
        </p:nvSpPr>
        <p:spPr>
          <a:xfrm>
            <a:off x="558786" y="1424710"/>
            <a:ext cx="11124922"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Single-turn inference often fails on high-depth problems. Select reasoning architectures based on latency budgets and validation requirements.</a:t>
            </a:r>
            <a:endParaRPr lang="en-US" sz="1700" dirty="0"/>
          </a:p>
        </p:txBody>
      </p:sp>
      <p:sp>
        <p:nvSpPr>
          <p:cNvPr id="5" name="Shape 3"/>
          <p:cNvSpPr/>
          <p:nvPr/>
        </p:nvSpPr>
        <p:spPr>
          <a:xfrm>
            <a:off x="558786" y="2191742"/>
            <a:ext cx="2552636" cy="3324820"/>
          </a:xfrm>
          <a:prstGeom prst="roundRect">
            <a:avLst>
              <a:gd name="adj" fmla="val 8358"/>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pic>
        <p:nvPicPr>
          <p:cNvPr id="6" name="Image 0" descr="preencoded.png">    </p:cNvPr>
          <p:cNvPicPr>
            <a:picLocks noChangeAspect="1"/>
          </p:cNvPicPr>
          <p:nvPr/>
        </p:nvPicPr>
        <p:blipFill>
          <a:blip r:embed="rId1"/>
          <a:stretch>
            <a:fillRect/>
          </a:stretch>
        </p:blipFill>
        <p:spPr>
          <a:xfrm>
            <a:off x="749281" y="2407642"/>
            <a:ext cx="431789" cy="431800"/>
          </a:xfrm>
          <a:prstGeom prst="rect">
            <a:avLst/>
          </a:prstGeom>
        </p:spPr>
      </p:pic>
      <p:sp>
        <p:nvSpPr>
          <p:cNvPr id="7" name="Text 4"/>
          <p:cNvSpPr/>
          <p:nvPr/>
        </p:nvSpPr>
        <p:spPr>
          <a:xfrm>
            <a:off x="749281" y="2998954"/>
            <a:ext cx="2171646"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Plan-then-Execute</a:t>
            </a:r>
            <a:endParaRPr lang="en-US" sz="1800" dirty="0"/>
          </a:p>
        </p:txBody>
      </p:sp>
      <p:sp>
        <p:nvSpPr>
          <p:cNvPr id="8" name="Text 5"/>
          <p:cNvSpPr/>
          <p:nvPr/>
        </p:nvSpPr>
        <p:spPr>
          <a:xfrm>
            <a:off x="749281" y="3479875"/>
            <a:ext cx="2171646"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Generate an ordered dependency tree before invoking any tools or writing answers.</a:t>
            </a:r>
            <a:endParaRPr lang="en-US" sz="1400" dirty="0"/>
          </a:p>
        </p:txBody>
      </p:sp>
      <p:sp>
        <p:nvSpPr>
          <p:cNvPr id="9" name="Text 6"/>
          <p:cNvSpPr/>
          <p:nvPr/>
        </p:nvSpPr>
        <p:spPr>
          <a:xfrm>
            <a:off x="749281" y="4611128"/>
            <a:ext cx="2171646" cy="553045"/>
          </a:xfrm>
          <a:prstGeom prst="rect">
            <a:avLst/>
          </a:prstGeom>
          <a:noFill/>
          <a:ln/>
        </p:spPr>
        <p:txBody>
          <a:bodyPr wrap="square" lIns="0" tIns="0" rIns="0" bIns="0" rtlCol="0" anchor="t">
            <a:normAutofit/>
          </a:bodyPr>
          <a:lstStyle/>
          <a:p>
            <a:pPr algn="l" indent="0" marL="0">
              <a:lnSpc>
                <a:spcPct val="110000"/>
              </a:lnSpc>
              <a:buNone/>
            </a:pPr>
            <a:r>
              <a:rPr lang="en-US" sz="1100" b="1" dirty="0">
                <a:solidFill>
                  <a:srgbClr val="10201D"/>
                </a:solidFill>
                <a:latin typeface="IBM Plex Sans Bold" pitchFamily="34" charset="0"/>
                <a:ea typeface="IBM Plex Sans Bold" pitchFamily="34" charset="-122"/>
                <a:cs typeface="IBM Plex Sans Bold" pitchFamily="34" charset="-120"/>
              </a:rPr>
              <a:t>Best for:</a:t>
            </a:r>
            <a:pPr algn="l" indent="0" marL="0">
              <a:lnSpc>
                <a:spcPct val="110000"/>
              </a:lnSpc>
              <a:buNone/>
            </a:pPr>
            <a:r>
              <a:rPr lang="en-US" sz="1100" dirty="0">
                <a:solidFill>
                  <a:srgbClr val="10201D"/>
                </a:solidFill>
                <a:latin typeface="IBM Plex Sans" pitchFamily="34" charset="0"/>
                <a:ea typeface="IBM Plex Sans" pitchFamily="34" charset="-122"/>
                <a:cs typeface="IBM Plex Sans" pitchFamily="34" charset="-120"/>
              </a:rPr>
              <a:t> Multi-step migration, multi-table queries, deterministic sequences.</a:t>
            </a:r>
            <a:endParaRPr lang="en-US" sz="1100" dirty="0"/>
          </a:p>
        </p:txBody>
      </p:sp>
      <p:sp>
        <p:nvSpPr>
          <p:cNvPr id="10" name="Shape 7"/>
          <p:cNvSpPr/>
          <p:nvPr/>
        </p:nvSpPr>
        <p:spPr>
          <a:xfrm>
            <a:off x="3416215" y="2191742"/>
            <a:ext cx="2552636" cy="3324820"/>
          </a:xfrm>
          <a:prstGeom prst="roundRect">
            <a:avLst>
              <a:gd name="adj" fmla="val 8358"/>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pic>
        <p:nvPicPr>
          <p:cNvPr id="11" name="Image 1" descr="preencoded.png">    </p:cNvPr>
          <p:cNvPicPr>
            <a:picLocks noChangeAspect="1"/>
          </p:cNvPicPr>
          <p:nvPr/>
        </p:nvPicPr>
        <p:blipFill>
          <a:blip r:embed="rId2"/>
          <a:stretch>
            <a:fillRect/>
          </a:stretch>
        </p:blipFill>
        <p:spPr>
          <a:xfrm>
            <a:off x="3606710" y="2407642"/>
            <a:ext cx="431789" cy="431800"/>
          </a:xfrm>
          <a:prstGeom prst="rect">
            <a:avLst/>
          </a:prstGeom>
        </p:spPr>
      </p:pic>
      <p:sp>
        <p:nvSpPr>
          <p:cNvPr id="12" name="Text 8"/>
          <p:cNvSpPr/>
          <p:nvPr/>
        </p:nvSpPr>
        <p:spPr>
          <a:xfrm>
            <a:off x="3606710" y="2998954"/>
            <a:ext cx="2171646"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Critique &amp; Revise</a:t>
            </a:r>
            <a:endParaRPr lang="en-US" sz="1800" dirty="0"/>
          </a:p>
        </p:txBody>
      </p:sp>
      <p:sp>
        <p:nvSpPr>
          <p:cNvPr id="13" name="Text 9"/>
          <p:cNvSpPr/>
          <p:nvPr/>
        </p:nvSpPr>
        <p:spPr>
          <a:xfrm>
            <a:off x="3606710" y="3479875"/>
            <a:ext cx="2171646"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A generator pass drafts the solution; a separate critic agent validates against constraints.</a:t>
            </a:r>
            <a:endParaRPr lang="en-US" sz="1400" dirty="0"/>
          </a:p>
        </p:txBody>
      </p:sp>
      <p:sp>
        <p:nvSpPr>
          <p:cNvPr id="14" name="Text 10"/>
          <p:cNvSpPr/>
          <p:nvPr/>
        </p:nvSpPr>
        <p:spPr>
          <a:xfrm>
            <a:off x="3606710" y="4611128"/>
            <a:ext cx="2171646" cy="553045"/>
          </a:xfrm>
          <a:prstGeom prst="rect">
            <a:avLst/>
          </a:prstGeom>
          <a:noFill/>
          <a:ln/>
        </p:spPr>
        <p:txBody>
          <a:bodyPr wrap="square" lIns="0" tIns="0" rIns="0" bIns="0" rtlCol="0" anchor="t">
            <a:normAutofit/>
          </a:bodyPr>
          <a:lstStyle/>
          <a:p>
            <a:pPr algn="l" indent="0" marL="0">
              <a:lnSpc>
                <a:spcPct val="110000"/>
              </a:lnSpc>
              <a:buNone/>
            </a:pPr>
            <a:r>
              <a:rPr lang="en-US" sz="1100" b="1" dirty="0">
                <a:solidFill>
                  <a:srgbClr val="10201D"/>
                </a:solidFill>
                <a:latin typeface="IBM Plex Sans Bold" pitchFamily="34" charset="0"/>
                <a:ea typeface="IBM Plex Sans Bold" pitchFamily="34" charset="-122"/>
                <a:cs typeface="IBM Plex Sans Bold" pitchFamily="34" charset="-120"/>
              </a:rPr>
              <a:t>Best for:</a:t>
            </a:r>
            <a:pPr algn="l" indent="0" marL="0">
              <a:lnSpc>
                <a:spcPct val="110000"/>
              </a:lnSpc>
              <a:buNone/>
            </a:pPr>
            <a:r>
              <a:rPr lang="en-US" sz="1100" dirty="0">
                <a:solidFill>
                  <a:srgbClr val="10201D"/>
                </a:solidFill>
                <a:latin typeface="IBM Plex Sans" pitchFamily="34" charset="0"/>
                <a:ea typeface="IBM Plex Sans" pitchFamily="34" charset="-122"/>
                <a:cs typeface="IBM Plex Sans" pitchFamily="34" charset="-120"/>
              </a:rPr>
              <a:t> Code synthesis, regulatory compliance, zero-defect drafting.</a:t>
            </a:r>
            <a:endParaRPr lang="en-US" sz="1100" dirty="0"/>
          </a:p>
        </p:txBody>
      </p:sp>
      <p:sp>
        <p:nvSpPr>
          <p:cNvPr id="15" name="Shape 11"/>
          <p:cNvSpPr/>
          <p:nvPr/>
        </p:nvSpPr>
        <p:spPr>
          <a:xfrm>
            <a:off x="6273643" y="2191742"/>
            <a:ext cx="2552636" cy="3324820"/>
          </a:xfrm>
          <a:prstGeom prst="roundRect">
            <a:avLst>
              <a:gd name="adj" fmla="val 8358"/>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pic>
        <p:nvPicPr>
          <p:cNvPr id="16" name="Image 2" descr="preencoded.png">    </p:cNvPr>
          <p:cNvPicPr>
            <a:picLocks noChangeAspect="1"/>
          </p:cNvPicPr>
          <p:nvPr/>
        </p:nvPicPr>
        <p:blipFill>
          <a:blip r:embed="rId3"/>
          <a:stretch>
            <a:fillRect/>
          </a:stretch>
        </p:blipFill>
        <p:spPr>
          <a:xfrm>
            <a:off x="6464138" y="2407642"/>
            <a:ext cx="431789" cy="431800"/>
          </a:xfrm>
          <a:prstGeom prst="rect">
            <a:avLst/>
          </a:prstGeom>
        </p:spPr>
      </p:pic>
      <p:sp>
        <p:nvSpPr>
          <p:cNvPr id="17" name="Text 12"/>
          <p:cNvSpPr/>
          <p:nvPr/>
        </p:nvSpPr>
        <p:spPr>
          <a:xfrm>
            <a:off x="6464138" y="2998954"/>
            <a:ext cx="2171646"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Branch &amp; Vote</a:t>
            </a:r>
            <a:endParaRPr lang="en-US" sz="1800" dirty="0"/>
          </a:p>
        </p:txBody>
      </p:sp>
      <p:sp>
        <p:nvSpPr>
          <p:cNvPr id="18" name="Text 13"/>
          <p:cNvSpPr/>
          <p:nvPr/>
        </p:nvSpPr>
        <p:spPr>
          <a:xfrm>
            <a:off x="6464138" y="3479875"/>
            <a:ext cx="2171646"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Sample multiple reasoning trajectories concurrently and select through consensus or scoring.</a:t>
            </a:r>
            <a:endParaRPr lang="en-US" sz="1400" dirty="0"/>
          </a:p>
        </p:txBody>
      </p:sp>
      <p:sp>
        <p:nvSpPr>
          <p:cNvPr id="19" name="Text 14"/>
          <p:cNvSpPr/>
          <p:nvPr/>
        </p:nvSpPr>
        <p:spPr>
          <a:xfrm>
            <a:off x="6464138" y="4611128"/>
            <a:ext cx="2171646" cy="553045"/>
          </a:xfrm>
          <a:prstGeom prst="rect">
            <a:avLst/>
          </a:prstGeom>
          <a:noFill/>
          <a:ln/>
        </p:spPr>
        <p:txBody>
          <a:bodyPr wrap="square" lIns="0" tIns="0" rIns="0" bIns="0" rtlCol="0" anchor="t">
            <a:normAutofit/>
          </a:bodyPr>
          <a:lstStyle/>
          <a:p>
            <a:pPr algn="l" indent="0" marL="0">
              <a:lnSpc>
                <a:spcPct val="110000"/>
              </a:lnSpc>
              <a:buNone/>
            </a:pPr>
            <a:r>
              <a:rPr lang="en-US" sz="1100" b="1" dirty="0">
                <a:solidFill>
                  <a:srgbClr val="10201D"/>
                </a:solidFill>
                <a:latin typeface="IBM Plex Sans Bold" pitchFamily="34" charset="0"/>
                <a:ea typeface="IBM Plex Sans Bold" pitchFamily="34" charset="-122"/>
                <a:cs typeface="IBM Plex Sans Bold" pitchFamily="34" charset="-120"/>
              </a:rPr>
              <a:t>Best for:</a:t>
            </a:r>
            <a:pPr algn="l" indent="0" marL="0">
              <a:lnSpc>
                <a:spcPct val="110000"/>
              </a:lnSpc>
              <a:buNone/>
            </a:pPr>
            <a:r>
              <a:rPr lang="en-US" sz="1100" dirty="0">
                <a:solidFill>
                  <a:srgbClr val="10201D"/>
                </a:solidFill>
                <a:latin typeface="IBM Plex Sans" pitchFamily="34" charset="0"/>
                <a:ea typeface="IBM Plex Sans" pitchFamily="34" charset="-122"/>
                <a:cs typeface="IBM Plex Sans" pitchFamily="34" charset="-120"/>
              </a:rPr>
              <a:t> Ambiguous entity linking, algorithmic problems, high-variance domains.</a:t>
            </a:r>
            <a:endParaRPr lang="en-US" sz="1100" dirty="0"/>
          </a:p>
        </p:txBody>
      </p:sp>
      <p:sp>
        <p:nvSpPr>
          <p:cNvPr id="20" name="Shape 15"/>
          <p:cNvSpPr/>
          <p:nvPr/>
        </p:nvSpPr>
        <p:spPr>
          <a:xfrm>
            <a:off x="9131072" y="2191742"/>
            <a:ext cx="2552636" cy="3324820"/>
          </a:xfrm>
          <a:prstGeom prst="roundRect">
            <a:avLst>
              <a:gd name="adj" fmla="val 8358"/>
            </a:avLst>
          </a:prstGeom>
          <a:solidFill>
            <a:srgbClr val="FFFFFF"/>
          </a:solidFill>
          <a:ln/>
          <a:effectLst>
            <a:outerShdw sx="100000" sy="100000" kx="0" ky="0" algn="bl" rotWithShape="0" blurRad="227330" dist="74930" dir="5400000">
              <a:srgbClr val="083c35">
                <a:alpha val="10000"/>
              </a:srgbClr>
            </a:outerShdw>
          </a:effectLst>
        </p:spPr>
      </p:sp>
      <p:sp>
        <p:nvSpPr>
          <p:cNvPr id="21" name="Shape 16"/>
          <p:cNvSpPr/>
          <p:nvPr/>
        </p:nvSpPr>
        <p:spPr>
          <a:xfrm>
            <a:off x="9131072" y="2191742"/>
            <a:ext cx="2552636" cy="38100"/>
          </a:xfrm>
          <a:prstGeom prst="rect">
            <a:avLst/>
          </a:prstGeom>
          <a:solidFill>
            <a:srgbClr val="F26A3D"/>
          </a:solidFill>
          <a:ln/>
        </p:spPr>
      </p:sp>
      <p:sp>
        <p:nvSpPr>
          <p:cNvPr id="22" name="Shape 17"/>
          <p:cNvSpPr/>
          <p:nvPr/>
        </p:nvSpPr>
        <p:spPr>
          <a:xfrm>
            <a:off x="11671008" y="2191742"/>
            <a:ext cx="12700" cy="3324820"/>
          </a:xfrm>
          <a:prstGeom prst="rect">
            <a:avLst/>
          </a:prstGeom>
          <a:solidFill>
            <a:srgbClr val="CBD4CE"/>
          </a:solidFill>
          <a:ln/>
        </p:spPr>
      </p:sp>
      <p:sp>
        <p:nvSpPr>
          <p:cNvPr id="23" name="Shape 18"/>
          <p:cNvSpPr/>
          <p:nvPr/>
        </p:nvSpPr>
        <p:spPr>
          <a:xfrm>
            <a:off x="9131072" y="5503863"/>
            <a:ext cx="2552636" cy="12700"/>
          </a:xfrm>
          <a:prstGeom prst="rect">
            <a:avLst/>
          </a:prstGeom>
          <a:solidFill>
            <a:srgbClr val="CBD4CE"/>
          </a:solidFill>
          <a:ln/>
        </p:spPr>
      </p:sp>
      <p:sp>
        <p:nvSpPr>
          <p:cNvPr id="24" name="Shape 19"/>
          <p:cNvSpPr/>
          <p:nvPr/>
        </p:nvSpPr>
        <p:spPr>
          <a:xfrm>
            <a:off x="9131072" y="2191742"/>
            <a:ext cx="12700" cy="3324820"/>
          </a:xfrm>
          <a:prstGeom prst="rect">
            <a:avLst/>
          </a:prstGeom>
          <a:solidFill>
            <a:srgbClr val="CBD4CE"/>
          </a:solidFill>
          <a:ln/>
        </p:spPr>
      </p:sp>
      <p:pic>
        <p:nvPicPr>
          <p:cNvPr id="25" name="Image 3" descr="preencoded.png">    </p:cNvPr>
          <p:cNvPicPr>
            <a:picLocks noChangeAspect="1"/>
          </p:cNvPicPr>
          <p:nvPr/>
        </p:nvPicPr>
        <p:blipFill>
          <a:blip r:embed="rId4"/>
          <a:stretch>
            <a:fillRect/>
          </a:stretch>
        </p:blipFill>
        <p:spPr>
          <a:xfrm>
            <a:off x="9321567" y="2433042"/>
            <a:ext cx="431789" cy="431800"/>
          </a:xfrm>
          <a:prstGeom prst="rect">
            <a:avLst/>
          </a:prstGeom>
        </p:spPr>
      </p:pic>
      <p:sp>
        <p:nvSpPr>
          <p:cNvPr id="26" name="Text 20"/>
          <p:cNvSpPr/>
          <p:nvPr/>
        </p:nvSpPr>
        <p:spPr>
          <a:xfrm>
            <a:off x="9321567" y="3024354"/>
            <a:ext cx="2171646"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Decomposed Pipelines</a:t>
            </a:r>
            <a:endParaRPr lang="en-US" sz="1800" dirty="0"/>
          </a:p>
        </p:txBody>
      </p:sp>
      <p:sp>
        <p:nvSpPr>
          <p:cNvPr id="27" name="Text 21"/>
          <p:cNvSpPr/>
          <p:nvPr/>
        </p:nvSpPr>
        <p:spPr>
          <a:xfrm>
            <a:off x="9321567" y="3807000"/>
            <a:ext cx="2171646"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Break massive tasks into distinct, isolated prompts linked by programmatic validation hooks.</a:t>
            </a:r>
            <a:endParaRPr lang="en-US" sz="1400" dirty="0"/>
          </a:p>
        </p:txBody>
      </p:sp>
      <p:sp>
        <p:nvSpPr>
          <p:cNvPr id="28" name="Text 22"/>
          <p:cNvSpPr/>
          <p:nvPr/>
        </p:nvSpPr>
        <p:spPr>
          <a:xfrm>
            <a:off x="9321567" y="4938252"/>
            <a:ext cx="2171646" cy="368697"/>
          </a:xfrm>
          <a:prstGeom prst="rect">
            <a:avLst/>
          </a:prstGeom>
          <a:noFill/>
          <a:ln/>
        </p:spPr>
        <p:txBody>
          <a:bodyPr wrap="square" lIns="0" tIns="0" rIns="0" bIns="0" rtlCol="0" anchor="t">
            <a:normAutofit/>
          </a:bodyPr>
          <a:lstStyle/>
          <a:p>
            <a:pPr algn="l" indent="0" marL="0">
              <a:lnSpc>
                <a:spcPct val="110000"/>
              </a:lnSpc>
              <a:buNone/>
            </a:pPr>
            <a:r>
              <a:rPr lang="en-US" sz="1100" b="1" dirty="0">
                <a:solidFill>
                  <a:srgbClr val="10201D"/>
                </a:solidFill>
                <a:latin typeface="IBM Plex Sans Bold" pitchFamily="34" charset="0"/>
                <a:ea typeface="IBM Plex Sans Bold" pitchFamily="34" charset="-122"/>
                <a:cs typeface="IBM Plex Sans Bold" pitchFamily="34" charset="-120"/>
              </a:rPr>
              <a:t>Best for:</a:t>
            </a:r>
            <a:pPr algn="l" indent="0" marL="0">
              <a:lnSpc>
                <a:spcPct val="110000"/>
              </a:lnSpc>
              <a:buNone/>
            </a:pPr>
            <a:r>
              <a:rPr lang="en-US" sz="1100" dirty="0">
                <a:solidFill>
                  <a:srgbClr val="10201D"/>
                </a:solidFill>
                <a:latin typeface="IBM Plex Sans" pitchFamily="34" charset="0"/>
                <a:ea typeface="IBM Plex Sans" pitchFamily="34" charset="-122"/>
                <a:cs typeface="IBM Plex Sans" pitchFamily="34" charset="-120"/>
              </a:rPr>
              <a:t> Production pipelines requiring sub-task error isolation.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8786" y="4408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CONTRACT VALIDATION</a:t>
            </a:r>
            <a:endParaRPr lang="en-US" sz="1100" dirty="0"/>
          </a:p>
        </p:txBody>
      </p:sp>
      <p:sp>
        <p:nvSpPr>
          <p:cNvPr id="3" name="Text 1"/>
          <p:cNvSpPr/>
          <p:nvPr/>
        </p:nvSpPr>
        <p:spPr>
          <a:xfrm>
            <a:off x="558786" y="7397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Make outputs machine-checkable</a:t>
            </a:r>
            <a:endParaRPr lang="en-US" sz="3400" dirty="0"/>
          </a:p>
        </p:txBody>
      </p:sp>
      <p:sp>
        <p:nvSpPr>
          <p:cNvPr id="4" name="Text 2"/>
          <p:cNvSpPr/>
          <p:nvPr/>
        </p:nvSpPr>
        <p:spPr>
          <a:xfrm>
            <a:off x="558786" y="1424710"/>
            <a:ext cx="11074123"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Never parse open prose in downstream services. Require strict schema validation to catch malformed payloads before they reach user applications.</a:t>
            </a:r>
            <a:endParaRPr lang="en-US" sz="1700" dirty="0"/>
          </a:p>
        </p:txBody>
      </p:sp>
      <p:pic>
        <p:nvPicPr>
          <p:cNvPr id="5" name="Image 0" descr="preencoded.png">    </p:cNvPr>
          <p:cNvPicPr>
            <a:picLocks noChangeAspect="1"/>
          </p:cNvPicPr>
          <p:nvPr/>
        </p:nvPicPr>
        <p:blipFill>
          <a:blip r:embed="rId1"/>
          <a:stretch>
            <a:fillRect/>
          </a:stretch>
        </p:blipFill>
        <p:spPr>
          <a:xfrm>
            <a:off x="558786" y="2166342"/>
            <a:ext cx="11074123" cy="38665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8786" y="4408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AGENTIC INTEGRATION</a:t>
            </a:r>
            <a:endParaRPr lang="en-US" sz="1100" dirty="0"/>
          </a:p>
        </p:txBody>
      </p:sp>
      <p:sp>
        <p:nvSpPr>
          <p:cNvPr id="3" name="Text 1"/>
          <p:cNvSpPr/>
          <p:nvPr/>
        </p:nvSpPr>
        <p:spPr>
          <a:xfrm>
            <a:off x="558786" y="7397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Ground the model with tools and evidence</a:t>
            </a:r>
            <a:endParaRPr lang="en-US" sz="3400" dirty="0"/>
          </a:p>
        </p:txBody>
      </p:sp>
      <p:sp>
        <p:nvSpPr>
          <p:cNvPr id="4" name="Text 2"/>
          <p:cNvSpPr/>
          <p:nvPr/>
        </p:nvSpPr>
        <p:spPr>
          <a:xfrm>
            <a:off x="558786" y="1424710"/>
            <a:ext cx="11632909" cy="297855"/>
          </a:xfrm>
          <a:prstGeom prst="rect">
            <a:avLst/>
          </a:prstGeom>
          <a:noFill/>
          <a:ln/>
        </p:spPr>
        <p:txBody>
          <a:bodyPr wrap="none" lIns="0" tIns="0" rIns="0" bIns="0" rtlCol="0" anchor="t"/>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Use tools for dynamic facts and arithmetic; define clear invocation, evidence, and fallback rules.</a:t>
            </a:r>
            <a:endParaRPr lang="en-US" sz="1700" dirty="0"/>
          </a:p>
        </p:txBody>
      </p:sp>
      <p:sp>
        <p:nvSpPr>
          <p:cNvPr id="5" name="Shape 3"/>
          <p:cNvSpPr/>
          <p:nvPr/>
        </p:nvSpPr>
        <p:spPr>
          <a:xfrm>
            <a:off x="558786" y="1944688"/>
            <a:ext cx="3386549" cy="1836638"/>
          </a:xfrm>
          <a:prstGeom prst="rect">
            <a:avLst/>
          </a:prstGeom>
          <a:solidFill>
            <a:srgbClr val="FFFFFF"/>
          </a:solidFill>
          <a:ln/>
        </p:spPr>
      </p:sp>
      <p:sp>
        <p:nvSpPr>
          <p:cNvPr id="6" name="Text 4"/>
          <p:cNvSpPr/>
          <p:nvPr/>
        </p:nvSpPr>
        <p:spPr>
          <a:xfrm>
            <a:off x="787380" y="2183574"/>
            <a:ext cx="2929360"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Decide</a:t>
            </a:r>
            <a:endParaRPr lang="en-US" sz="1800" dirty="0"/>
          </a:p>
        </p:txBody>
      </p:sp>
      <p:sp>
        <p:nvSpPr>
          <p:cNvPr id="7" name="Text 5"/>
          <p:cNvSpPr/>
          <p:nvPr/>
        </p:nvSpPr>
        <p:spPr>
          <a:xfrm>
            <a:off x="787380" y="2665639"/>
            <a:ext cx="2929360"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Search, calculate, retrieve, or ask for clarification when needed.</a:t>
            </a:r>
            <a:endParaRPr lang="en-US" sz="1700" dirty="0"/>
          </a:p>
        </p:txBody>
      </p:sp>
      <p:sp>
        <p:nvSpPr>
          <p:cNvPr id="8" name="Shape 6"/>
          <p:cNvSpPr/>
          <p:nvPr/>
        </p:nvSpPr>
        <p:spPr>
          <a:xfrm>
            <a:off x="4402523" y="1944688"/>
            <a:ext cx="3386549" cy="1836638"/>
          </a:xfrm>
          <a:prstGeom prst="rect">
            <a:avLst/>
          </a:prstGeom>
          <a:solidFill>
            <a:srgbClr val="083C35"/>
          </a:solidFill>
          <a:ln/>
        </p:spPr>
      </p:sp>
      <p:sp>
        <p:nvSpPr>
          <p:cNvPr id="9" name="Text 7"/>
          <p:cNvSpPr/>
          <p:nvPr/>
        </p:nvSpPr>
        <p:spPr>
          <a:xfrm>
            <a:off x="4631118" y="2183574"/>
            <a:ext cx="2929360" cy="301724"/>
          </a:xfrm>
          <a:prstGeom prst="rect">
            <a:avLst/>
          </a:prstGeom>
          <a:noFill/>
          <a:ln/>
        </p:spPr>
        <p:txBody>
          <a:bodyPr wrap="none" lIns="0" tIns="0" rIns="0" bIns="0" rtlCol="0" anchor="t"/>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Run safely</a:t>
            </a:r>
            <a:endParaRPr lang="en-US" sz="1800" dirty="0"/>
          </a:p>
        </p:txBody>
      </p:sp>
      <p:sp>
        <p:nvSpPr>
          <p:cNvPr id="10" name="Text 8"/>
          <p:cNvSpPr/>
          <p:nvPr/>
        </p:nvSpPr>
        <p:spPr>
          <a:xfrm>
            <a:off x="4631118" y="2665639"/>
            <a:ext cx="2929360"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Pass tool results back with provenance and clear boundaries.</a:t>
            </a:r>
            <a:endParaRPr lang="en-US" sz="1700" dirty="0"/>
          </a:p>
        </p:txBody>
      </p:sp>
      <p:sp>
        <p:nvSpPr>
          <p:cNvPr id="11" name="Shape 9"/>
          <p:cNvSpPr/>
          <p:nvPr/>
        </p:nvSpPr>
        <p:spPr>
          <a:xfrm>
            <a:off x="8246261" y="1944688"/>
            <a:ext cx="3386648" cy="1836638"/>
          </a:xfrm>
          <a:prstGeom prst="rect">
            <a:avLst/>
          </a:prstGeom>
          <a:solidFill>
            <a:srgbClr val="FFFFFF"/>
          </a:solidFill>
          <a:ln/>
        </p:spPr>
      </p:sp>
      <p:sp>
        <p:nvSpPr>
          <p:cNvPr id="12" name="Text 10"/>
          <p:cNvSpPr/>
          <p:nvPr/>
        </p:nvSpPr>
        <p:spPr>
          <a:xfrm>
            <a:off x="8474855" y="2183574"/>
            <a:ext cx="2929460"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Synthesize</a:t>
            </a:r>
            <a:endParaRPr lang="en-US" sz="1800" dirty="0"/>
          </a:p>
        </p:txBody>
      </p:sp>
      <p:sp>
        <p:nvSpPr>
          <p:cNvPr id="13" name="Text 11"/>
          <p:cNvSpPr/>
          <p:nvPr/>
        </p:nvSpPr>
        <p:spPr>
          <a:xfrm>
            <a:off x="8474855" y="2665639"/>
            <a:ext cx="2929460"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Refuse or escalate when evidence is missing.</a:t>
            </a:r>
            <a:endParaRPr lang="en-US" sz="1700" dirty="0"/>
          </a:p>
        </p:txBody>
      </p:sp>
      <p:sp>
        <p:nvSpPr>
          <p:cNvPr id="14" name="Shape 12"/>
          <p:cNvSpPr/>
          <p:nvPr/>
        </p:nvSpPr>
        <p:spPr>
          <a:xfrm>
            <a:off x="558786" y="4009926"/>
            <a:ext cx="3386549" cy="2409230"/>
          </a:xfrm>
          <a:prstGeom prst="rect">
            <a:avLst/>
          </a:prstGeom>
          <a:solidFill>
            <a:srgbClr val="FFFFFF"/>
          </a:solidFill>
          <a:ln/>
        </p:spPr>
      </p:sp>
      <p:sp>
        <p:nvSpPr>
          <p:cNvPr id="15" name="Text 13"/>
          <p:cNvSpPr/>
          <p:nvPr/>
        </p:nvSpPr>
        <p:spPr>
          <a:xfrm>
            <a:off x="787380" y="4247606"/>
            <a:ext cx="3157955"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PROTOCOL 01</a:t>
            </a:r>
            <a:endParaRPr lang="en-US" sz="1100" dirty="0"/>
          </a:p>
        </p:txBody>
      </p:sp>
      <p:sp>
        <p:nvSpPr>
          <p:cNvPr id="16" name="Text 14"/>
          <p:cNvSpPr/>
          <p:nvPr/>
        </p:nvSpPr>
        <p:spPr>
          <a:xfrm>
            <a:off x="787380" y="4523550"/>
            <a:ext cx="2929360"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Explicit invocation</a:t>
            </a:r>
            <a:endParaRPr lang="en-US" sz="1800" dirty="0"/>
          </a:p>
        </p:txBody>
      </p:sp>
      <p:sp>
        <p:nvSpPr>
          <p:cNvPr id="17" name="Text 15"/>
          <p:cNvSpPr/>
          <p:nvPr/>
        </p:nvSpPr>
        <p:spPr>
          <a:xfrm>
            <a:off x="787380" y="5005614"/>
            <a:ext cx="2929360"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Specify when to invoke a tool and when to answer from prompt context.</a:t>
            </a:r>
            <a:endParaRPr lang="en-US" sz="1700" dirty="0"/>
          </a:p>
        </p:txBody>
      </p:sp>
      <p:sp>
        <p:nvSpPr>
          <p:cNvPr id="18" name="Shape 16"/>
          <p:cNvSpPr/>
          <p:nvPr/>
        </p:nvSpPr>
        <p:spPr>
          <a:xfrm>
            <a:off x="4402523" y="4009926"/>
            <a:ext cx="3386549" cy="2409230"/>
          </a:xfrm>
          <a:prstGeom prst="rect">
            <a:avLst/>
          </a:prstGeom>
          <a:solidFill>
            <a:srgbClr val="FFFFFF"/>
          </a:solidFill>
          <a:ln/>
        </p:spPr>
      </p:sp>
      <p:sp>
        <p:nvSpPr>
          <p:cNvPr id="19" name="Text 17"/>
          <p:cNvSpPr/>
          <p:nvPr/>
        </p:nvSpPr>
        <p:spPr>
          <a:xfrm>
            <a:off x="4631118" y="4247606"/>
            <a:ext cx="3157955"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PROTOCOL 02</a:t>
            </a:r>
            <a:endParaRPr lang="en-US" sz="1100" dirty="0"/>
          </a:p>
        </p:txBody>
      </p:sp>
      <p:sp>
        <p:nvSpPr>
          <p:cNvPr id="20" name="Text 18"/>
          <p:cNvSpPr/>
          <p:nvPr/>
        </p:nvSpPr>
        <p:spPr>
          <a:xfrm>
            <a:off x="4631118" y="4523550"/>
            <a:ext cx="2929360"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Bounded results</a:t>
            </a:r>
            <a:endParaRPr lang="en-US" sz="1800" dirty="0"/>
          </a:p>
        </p:txBody>
      </p:sp>
      <p:sp>
        <p:nvSpPr>
          <p:cNvPr id="21" name="Text 19"/>
          <p:cNvSpPr/>
          <p:nvPr/>
        </p:nvSpPr>
        <p:spPr>
          <a:xfrm>
            <a:off x="4631118" y="5005614"/>
            <a:ext cx="2929360" cy="119141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Return verified provenance and clear boundaries; use token budgets to prevent context blowup.</a:t>
            </a:r>
            <a:endParaRPr lang="en-US" sz="1700" dirty="0"/>
          </a:p>
        </p:txBody>
      </p:sp>
      <p:sp>
        <p:nvSpPr>
          <p:cNvPr id="22" name="Shape 20"/>
          <p:cNvSpPr/>
          <p:nvPr/>
        </p:nvSpPr>
        <p:spPr>
          <a:xfrm>
            <a:off x="8246261" y="4009926"/>
            <a:ext cx="3386648" cy="2409230"/>
          </a:xfrm>
          <a:prstGeom prst="rect">
            <a:avLst/>
          </a:prstGeom>
          <a:solidFill>
            <a:srgbClr val="FFFFFF"/>
          </a:solidFill>
          <a:ln/>
        </p:spPr>
      </p:sp>
      <p:sp>
        <p:nvSpPr>
          <p:cNvPr id="23" name="Text 21"/>
          <p:cNvSpPr/>
          <p:nvPr/>
        </p:nvSpPr>
        <p:spPr>
          <a:xfrm>
            <a:off x="8474855" y="4247606"/>
            <a:ext cx="3158054"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PROTOCOL 03</a:t>
            </a:r>
            <a:endParaRPr lang="en-US" sz="1100" dirty="0"/>
          </a:p>
        </p:txBody>
      </p:sp>
      <p:sp>
        <p:nvSpPr>
          <p:cNvPr id="24" name="Text 22"/>
          <p:cNvSpPr/>
          <p:nvPr/>
        </p:nvSpPr>
        <p:spPr>
          <a:xfrm>
            <a:off x="8474855" y="4523550"/>
            <a:ext cx="2929460"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Refusal gates</a:t>
            </a:r>
            <a:endParaRPr lang="en-US" sz="1800" dirty="0"/>
          </a:p>
        </p:txBody>
      </p:sp>
      <p:sp>
        <p:nvSpPr>
          <p:cNvPr id="25" name="Text 23"/>
          <p:cNvSpPr/>
          <p:nvPr/>
        </p:nvSpPr>
        <p:spPr>
          <a:xfrm>
            <a:off x="8474855" y="5005614"/>
            <a:ext cx="2929460"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Escalate or refuse when tool results lack necessary facts.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4408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CONTINUOUS INTEGRATION</a:t>
            </a:r>
            <a:endParaRPr lang="en-US" sz="1100" dirty="0"/>
          </a:p>
        </p:txBody>
      </p:sp>
      <p:sp>
        <p:nvSpPr>
          <p:cNvPr id="3" name="Text 1"/>
          <p:cNvSpPr/>
          <p:nvPr/>
        </p:nvSpPr>
        <p:spPr>
          <a:xfrm>
            <a:off x="558786" y="7397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Evaluate prompts like production software</a:t>
            </a:r>
            <a:endParaRPr lang="en-US" sz="3400" dirty="0"/>
          </a:p>
        </p:txBody>
      </p:sp>
      <p:sp>
        <p:nvSpPr>
          <p:cNvPr id="4" name="Text 2"/>
          <p:cNvSpPr/>
          <p:nvPr/>
        </p:nvSpPr>
        <p:spPr>
          <a:xfrm>
            <a:off x="558786" y="1424710"/>
            <a:ext cx="11074123"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Prompt changes must be governed by test suites, cost tracking, and regression assertions. Never push a prompt revision without testing across edge cases.</a:t>
            </a:r>
            <a:endParaRPr lang="en-US" sz="1700" dirty="0"/>
          </a:p>
        </p:txBody>
      </p:sp>
      <p:pic>
        <p:nvPicPr>
          <p:cNvPr id="5" name="Image 0" descr="preencoded.png">    </p:cNvPr>
          <p:cNvPicPr>
            <a:picLocks noChangeAspect="1"/>
          </p:cNvPicPr>
          <p:nvPr/>
        </p:nvPicPr>
        <p:blipFill>
          <a:blip r:embed="rId1"/>
          <a:stretch>
            <a:fillRect/>
          </a:stretch>
        </p:blipFill>
        <p:spPr>
          <a:xfrm>
            <a:off x="558786" y="2166342"/>
            <a:ext cx="6349841" cy="3049488"/>
          </a:xfrm>
          <a:prstGeom prst="rect">
            <a:avLst/>
          </a:prstGeom>
        </p:spPr>
      </p:pic>
      <p:sp>
        <p:nvSpPr>
          <p:cNvPr id="6" name="Text 3"/>
          <p:cNvSpPr/>
          <p:nvPr/>
        </p:nvSpPr>
        <p:spPr>
          <a:xfrm>
            <a:off x="558786" y="5323717"/>
            <a:ext cx="6370180" cy="184348"/>
          </a:xfrm>
          <a:prstGeom prst="rect">
            <a:avLst/>
          </a:prstGeom>
          <a:noFill/>
          <a:ln/>
        </p:spPr>
        <p:txBody>
          <a:bodyPr wrap="none" lIns="0" tIns="0" rIns="0" bIns="0" rtlCol="0" anchor="t"/>
          <a:lstStyle/>
          <a:p>
            <a:pPr algn="l" indent="0" marL="0">
              <a:lnSpc>
                <a:spcPct val="110000"/>
              </a:lnSpc>
              <a:buNone/>
            </a:pPr>
            <a:r>
              <a:rPr lang="en-US" sz="1100" dirty="0">
                <a:solidFill>
                  <a:srgbClr val="5F6D68"/>
                </a:solidFill>
                <a:latin typeface="IBM Plex Sans" pitchFamily="34" charset="0"/>
                <a:ea typeface="IBM Plex Sans" pitchFamily="34" charset="-122"/>
                <a:cs typeface="IBM Plex Sans" pitchFamily="34" charset="-120"/>
              </a:rPr>
              <a:t>Synthetic and curated regression split (n=850 test cases, Prompt v2.4 build).</a:t>
            </a:r>
            <a:endParaRPr lang="en-US" sz="1100" dirty="0"/>
          </a:p>
        </p:txBody>
      </p:sp>
      <p:sp>
        <p:nvSpPr>
          <p:cNvPr id="7" name="Shape 4"/>
          <p:cNvSpPr/>
          <p:nvPr/>
        </p:nvSpPr>
        <p:spPr>
          <a:xfrm>
            <a:off x="7386056" y="2166342"/>
            <a:ext cx="4246853" cy="1070769"/>
          </a:xfrm>
          <a:prstGeom prst="roundRect">
            <a:avLst>
              <a:gd name="adj" fmla="val 19925"/>
            </a:avLst>
          </a:prstGeom>
          <a:solidFill>
            <a:srgbClr val="FFFFFF"/>
          </a:solidFill>
          <a:ln w="6350">
            <a:solidFill>
              <a:srgbClr val="CBD4CE"/>
            </a:solidFill>
            <a:prstDash val="solid"/>
          </a:ln>
          <a:effectLst>
            <a:outerShdw sx="100000" sy="100000" kx="0" ky="0" algn="bl" rotWithShape="0" blurRad="227330" dist="74930" dir="5400000">
              <a:srgbClr val="083c35">
                <a:alpha val="10000"/>
              </a:srgbClr>
            </a:outerShdw>
          </a:effectLst>
        </p:spPr>
      </p:sp>
      <p:sp>
        <p:nvSpPr>
          <p:cNvPr id="8" name="Text 5"/>
          <p:cNvSpPr/>
          <p:nvPr/>
        </p:nvSpPr>
        <p:spPr>
          <a:xfrm>
            <a:off x="7570201" y="2328267"/>
            <a:ext cx="3878562" cy="304800"/>
          </a:xfrm>
          <a:prstGeom prst="rect">
            <a:avLst/>
          </a:prstGeom>
          <a:noFill/>
          <a:ln/>
        </p:spPr>
        <p:txBody>
          <a:bodyPr wrap="none" lIns="0" tIns="0" rIns="0" bIns="0" rtlCol="0" anchor="t"/>
          <a:lstStyle/>
          <a:p>
            <a:pPr algn="l" indent="0" marL="0">
              <a:lnSpc>
                <a:spcPct val="83000"/>
              </a:lnSpc>
              <a:buNone/>
            </a:pPr>
            <a:r>
              <a:rPr lang="en-US" sz="2400" b="1" spc="-60" kern="100" dirty="0">
                <a:solidFill>
                  <a:srgbClr val="10201D"/>
                </a:solidFill>
                <a:latin typeface="Sora Bold" pitchFamily="34" charset="0"/>
                <a:ea typeface="Sora Bold" pitchFamily="34" charset="-122"/>
                <a:cs typeface="Sora Bold" pitchFamily="34" charset="-120"/>
              </a:rPr>
              <a:t>99.1%</a:t>
            </a:r>
            <a:endParaRPr lang="en-US" sz="2400" dirty="0"/>
          </a:p>
        </p:txBody>
      </p:sp>
      <p:sp>
        <p:nvSpPr>
          <p:cNvPr id="9" name="Text 6"/>
          <p:cNvSpPr/>
          <p:nvPr/>
        </p:nvSpPr>
        <p:spPr>
          <a:xfrm>
            <a:off x="7570201" y="2863826"/>
            <a:ext cx="4062708" cy="245269"/>
          </a:xfrm>
          <a:prstGeom prst="rect">
            <a:avLst/>
          </a:prstGeom>
          <a:noFill/>
          <a:ln/>
        </p:spPr>
        <p:txBody>
          <a:bodyPr wrap="none" lIns="0" tIns="0" rIns="0" bIns="0" rtlCol="0" anchor="t"/>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Schema adherence in CI pipeline</a:t>
            </a:r>
            <a:endParaRPr lang="en-US" sz="1400" dirty="0"/>
          </a:p>
        </p:txBody>
      </p:sp>
      <p:sp>
        <p:nvSpPr>
          <p:cNvPr id="10" name="Shape 7"/>
          <p:cNvSpPr/>
          <p:nvPr/>
        </p:nvSpPr>
        <p:spPr>
          <a:xfrm>
            <a:off x="7386056" y="3389511"/>
            <a:ext cx="4246853" cy="1070769"/>
          </a:xfrm>
          <a:prstGeom prst="roundRect">
            <a:avLst>
              <a:gd name="adj" fmla="val 19925"/>
            </a:avLst>
          </a:prstGeom>
          <a:solidFill>
            <a:srgbClr val="FFFFFF"/>
          </a:solidFill>
          <a:ln w="6350">
            <a:solidFill>
              <a:srgbClr val="CBD4CE"/>
            </a:solidFill>
            <a:prstDash val="solid"/>
          </a:ln>
          <a:effectLst>
            <a:outerShdw sx="100000" sy="100000" kx="0" ky="0" algn="bl" rotWithShape="0" blurRad="227330" dist="74930" dir="5400000">
              <a:srgbClr val="083c35">
                <a:alpha val="10000"/>
              </a:srgbClr>
            </a:outerShdw>
          </a:effectLst>
        </p:spPr>
      </p:sp>
      <p:sp>
        <p:nvSpPr>
          <p:cNvPr id="11" name="Text 8"/>
          <p:cNvSpPr/>
          <p:nvPr/>
        </p:nvSpPr>
        <p:spPr>
          <a:xfrm>
            <a:off x="7570201" y="3551436"/>
            <a:ext cx="3878562" cy="304800"/>
          </a:xfrm>
          <a:prstGeom prst="rect">
            <a:avLst/>
          </a:prstGeom>
          <a:noFill/>
          <a:ln/>
        </p:spPr>
        <p:txBody>
          <a:bodyPr wrap="none" lIns="0" tIns="0" rIns="0" bIns="0" rtlCol="0" anchor="t"/>
          <a:lstStyle/>
          <a:p>
            <a:pPr algn="l" indent="0" marL="0">
              <a:lnSpc>
                <a:spcPct val="83000"/>
              </a:lnSpc>
              <a:buNone/>
            </a:pPr>
            <a:r>
              <a:rPr lang="en-US" sz="2400" b="1" spc="-60" kern="100" dirty="0">
                <a:solidFill>
                  <a:srgbClr val="10201D"/>
                </a:solidFill>
                <a:latin typeface="Sora Bold" pitchFamily="34" charset="0"/>
                <a:ea typeface="Sora Bold" pitchFamily="34" charset="-122"/>
                <a:cs typeface="Sora Bold" pitchFamily="34" charset="-120"/>
              </a:rPr>
              <a:t>−42%</a:t>
            </a:r>
            <a:endParaRPr lang="en-US" sz="2400" dirty="0"/>
          </a:p>
        </p:txBody>
      </p:sp>
      <p:sp>
        <p:nvSpPr>
          <p:cNvPr id="12" name="Text 9"/>
          <p:cNvSpPr/>
          <p:nvPr/>
        </p:nvSpPr>
        <p:spPr>
          <a:xfrm>
            <a:off x="7570201" y="4086995"/>
            <a:ext cx="4062708" cy="245269"/>
          </a:xfrm>
          <a:prstGeom prst="rect">
            <a:avLst/>
          </a:prstGeom>
          <a:noFill/>
          <a:ln/>
        </p:spPr>
        <p:txBody>
          <a:bodyPr wrap="none" lIns="0" tIns="0" rIns="0" bIns="0" rtlCol="0" anchor="t"/>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Latency through concise directives</a:t>
            </a:r>
            <a:endParaRPr lang="en-US" sz="1400" dirty="0"/>
          </a:p>
        </p:txBody>
      </p:sp>
      <p:sp>
        <p:nvSpPr>
          <p:cNvPr id="13" name="Shape 10"/>
          <p:cNvSpPr/>
          <p:nvPr/>
        </p:nvSpPr>
        <p:spPr>
          <a:xfrm>
            <a:off x="7386056" y="4612680"/>
            <a:ext cx="4246853" cy="1563489"/>
          </a:xfrm>
          <a:prstGeom prst="roundRect">
            <a:avLst>
              <a:gd name="adj" fmla="val 13646"/>
            </a:avLst>
          </a:prstGeom>
          <a:solidFill>
            <a:srgbClr val="FFFFFF"/>
          </a:solidFill>
          <a:ln/>
          <a:effectLst>
            <a:outerShdw sx="100000" sy="100000" kx="0" ky="0" algn="bl" rotWithShape="0" blurRad="227330" dist="74930" dir="5400000">
              <a:srgbClr val="083c35">
                <a:alpha val="10000"/>
              </a:srgbClr>
            </a:outerShdw>
          </a:effectLst>
        </p:spPr>
      </p:sp>
      <p:sp>
        <p:nvSpPr>
          <p:cNvPr id="14" name="Shape 11"/>
          <p:cNvSpPr/>
          <p:nvPr/>
        </p:nvSpPr>
        <p:spPr>
          <a:xfrm>
            <a:off x="7386056" y="4612680"/>
            <a:ext cx="4246853" cy="6350"/>
          </a:xfrm>
          <a:prstGeom prst="rect">
            <a:avLst/>
          </a:prstGeom>
          <a:solidFill>
            <a:srgbClr val="CBD4CE"/>
          </a:solidFill>
          <a:ln/>
        </p:spPr>
      </p:sp>
      <p:sp>
        <p:nvSpPr>
          <p:cNvPr id="15" name="Shape 12"/>
          <p:cNvSpPr/>
          <p:nvPr/>
        </p:nvSpPr>
        <p:spPr>
          <a:xfrm>
            <a:off x="11626559" y="4612680"/>
            <a:ext cx="6350" cy="1563489"/>
          </a:xfrm>
          <a:prstGeom prst="rect">
            <a:avLst/>
          </a:prstGeom>
          <a:solidFill>
            <a:srgbClr val="CBD4CE"/>
          </a:solidFill>
          <a:ln/>
        </p:spPr>
      </p:sp>
      <p:sp>
        <p:nvSpPr>
          <p:cNvPr id="16" name="Shape 13"/>
          <p:cNvSpPr/>
          <p:nvPr/>
        </p:nvSpPr>
        <p:spPr>
          <a:xfrm>
            <a:off x="7386056" y="6169819"/>
            <a:ext cx="4246853" cy="6350"/>
          </a:xfrm>
          <a:prstGeom prst="rect">
            <a:avLst/>
          </a:prstGeom>
          <a:solidFill>
            <a:srgbClr val="CBD4CE"/>
          </a:solidFill>
          <a:ln/>
        </p:spPr>
      </p:sp>
      <p:sp>
        <p:nvSpPr>
          <p:cNvPr id="17" name="Shape 14"/>
          <p:cNvSpPr/>
          <p:nvPr/>
        </p:nvSpPr>
        <p:spPr>
          <a:xfrm>
            <a:off x="7386056" y="4612680"/>
            <a:ext cx="50799" cy="1563489"/>
          </a:xfrm>
          <a:prstGeom prst="rect">
            <a:avLst/>
          </a:prstGeom>
          <a:solidFill>
            <a:srgbClr val="F26A3D"/>
          </a:solidFill>
          <a:ln/>
        </p:spPr>
      </p:sp>
      <p:sp>
        <p:nvSpPr>
          <p:cNvPr id="18" name="Text 15"/>
          <p:cNvSpPr/>
          <p:nvPr/>
        </p:nvSpPr>
        <p:spPr>
          <a:xfrm>
            <a:off x="7614650" y="4774605"/>
            <a:ext cx="3834113" cy="304800"/>
          </a:xfrm>
          <a:prstGeom prst="rect">
            <a:avLst/>
          </a:prstGeom>
          <a:noFill/>
          <a:ln/>
        </p:spPr>
        <p:txBody>
          <a:bodyPr wrap="none" lIns="0" tIns="0" rIns="0" bIns="0" rtlCol="0" anchor="t"/>
          <a:lstStyle/>
          <a:p>
            <a:pPr algn="l" indent="0" marL="0">
              <a:lnSpc>
                <a:spcPct val="83000"/>
              </a:lnSpc>
              <a:buNone/>
            </a:pPr>
            <a:r>
              <a:rPr lang="en-US" sz="2400" b="1" spc="-60" kern="100" dirty="0">
                <a:solidFill>
                  <a:srgbClr val="10201D"/>
                </a:solidFill>
                <a:latin typeface="Sora Bold" pitchFamily="34" charset="0"/>
                <a:ea typeface="Sora Bold" pitchFamily="34" charset="-122"/>
                <a:cs typeface="Sora Bold" pitchFamily="34" charset="-120"/>
              </a:rPr>
              <a:t>84.1%</a:t>
            </a:r>
            <a:endParaRPr lang="en-US" sz="2400" dirty="0"/>
          </a:p>
        </p:txBody>
      </p:sp>
      <p:sp>
        <p:nvSpPr>
          <p:cNvPr id="19" name="Text 16"/>
          <p:cNvSpPr/>
          <p:nvPr/>
        </p:nvSpPr>
        <p:spPr>
          <a:xfrm>
            <a:off x="7614650" y="5310164"/>
            <a:ext cx="4018259" cy="245269"/>
          </a:xfrm>
          <a:prstGeom prst="rect">
            <a:avLst/>
          </a:prstGeom>
          <a:noFill/>
          <a:ln/>
        </p:spPr>
        <p:txBody>
          <a:bodyPr wrap="none" lIns="0" tIns="0" rIns="0" bIns="0" rtlCol="0" anchor="t"/>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Refusal rate on incomplete evidence</a:t>
            </a:r>
            <a:endParaRPr lang="en-US" sz="1400" dirty="0"/>
          </a:p>
        </p:txBody>
      </p:sp>
      <p:sp>
        <p:nvSpPr>
          <p:cNvPr id="20" name="Shape 17"/>
          <p:cNvSpPr/>
          <p:nvPr/>
        </p:nvSpPr>
        <p:spPr>
          <a:xfrm>
            <a:off x="7614650" y="5699323"/>
            <a:ext cx="1160731" cy="343495"/>
          </a:xfrm>
          <a:prstGeom prst="roundRect">
            <a:avLst>
              <a:gd name="adj" fmla="val 49999"/>
            </a:avLst>
          </a:prstGeom>
          <a:solidFill>
            <a:srgbClr val="D2F9F4"/>
          </a:solidFill>
          <a:ln/>
        </p:spPr>
      </p:sp>
      <p:sp>
        <p:nvSpPr>
          <p:cNvPr id="21" name="Text 18"/>
          <p:cNvSpPr/>
          <p:nvPr/>
        </p:nvSpPr>
        <p:spPr>
          <a:xfrm>
            <a:off x="7744127" y="5777146"/>
            <a:ext cx="1511361" cy="214114"/>
          </a:xfrm>
          <a:prstGeom prst="rect">
            <a:avLst/>
          </a:prstGeom>
          <a:noFill/>
          <a:ln/>
        </p:spPr>
        <p:txBody>
          <a:bodyPr wrap="none" lIns="0" tIns="0" rIns="0" bIns="0" rtlCol="0" anchor="t"/>
          <a:lstStyle/>
          <a:p>
            <a:pPr algn="l" indent="0" marL="0">
              <a:lnSpc>
                <a:spcPct val="103000"/>
              </a:lnSpc>
              <a:buNone/>
            </a:pPr>
            <a:r>
              <a:rPr lang="en-US" sz="1350" spc="14" kern="100" dirty="0">
                <a:solidFill>
                  <a:srgbClr val="10201D"/>
                </a:solidFill>
                <a:latin typeface="IBM Plex Sans SemiBold" pitchFamily="34" charset="0"/>
                <a:ea typeface="IBM Plex Sans SemiBold" pitchFamily="34" charset="-122"/>
                <a:cs typeface="IBM Plex Sans SemiBold" pitchFamily="34" charset="-120"/>
              </a:rPr>
              <a:t>Focus Area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8786" y="4916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FBDB7"/>
                </a:solidFill>
                <a:latin typeface="IBM Plex Sans SemiBold" pitchFamily="34" charset="0"/>
                <a:ea typeface="IBM Plex Sans SemiBold" pitchFamily="34" charset="-122"/>
                <a:cs typeface="IBM Plex Sans SemiBold" pitchFamily="34" charset="-120"/>
              </a:rPr>
              <a:t>THE OPERATING CADENCE</a:t>
            </a:r>
            <a:endParaRPr lang="en-US" sz="1100" dirty="0"/>
          </a:p>
        </p:txBody>
      </p:sp>
      <p:sp>
        <p:nvSpPr>
          <p:cNvPr id="3" name="Text 1"/>
          <p:cNvSpPr/>
          <p:nvPr/>
        </p:nvSpPr>
        <p:spPr>
          <a:xfrm>
            <a:off x="558786" y="7905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FFFFFF"/>
                </a:solidFill>
                <a:latin typeface="Sora Bold" pitchFamily="34" charset="0"/>
                <a:ea typeface="Sora Bold" pitchFamily="34" charset="-122"/>
                <a:cs typeface="Sora Bold" pitchFamily="34" charset="-120"/>
              </a:rPr>
              <a:t>The advanced loop: specify, test, inspect, improve</a:t>
            </a:r>
            <a:endParaRPr lang="en-US" sz="3400" dirty="0"/>
          </a:p>
        </p:txBody>
      </p:sp>
      <p:sp>
        <p:nvSpPr>
          <p:cNvPr id="4" name="Text 2"/>
          <p:cNvSpPr/>
          <p:nvPr/>
        </p:nvSpPr>
        <p:spPr>
          <a:xfrm>
            <a:off x="558786" y="1475510"/>
            <a:ext cx="11074123"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Production excellence is an ongoing iteration cycle. Build the prompt harness around structured telemetry and root-cause classification.</a:t>
            </a:r>
            <a:endParaRPr lang="en-US" sz="1700" dirty="0"/>
          </a:p>
        </p:txBody>
      </p:sp>
      <p:sp>
        <p:nvSpPr>
          <p:cNvPr id="5" name="Shape 3"/>
          <p:cNvSpPr/>
          <p:nvPr/>
        </p:nvSpPr>
        <p:spPr>
          <a:xfrm>
            <a:off x="558786" y="2267942"/>
            <a:ext cx="2539936" cy="3145830"/>
          </a:xfrm>
          <a:prstGeom prst="roundRect">
            <a:avLst>
              <a:gd name="adj" fmla="val 84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749281" y="2483842"/>
            <a:ext cx="8687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BM Plex Sans SemiBold" pitchFamily="34" charset="0"/>
                <a:ea typeface="IBM Plex Sans SemiBold" pitchFamily="34" charset="-122"/>
                <a:cs typeface="IBM Plex Sans SemiBold" pitchFamily="34" charset="-120"/>
              </a:rPr>
              <a:t>01</a:t>
            </a:r>
            <a:endParaRPr lang="en-US" sz="1700" dirty="0"/>
          </a:p>
        </p:txBody>
      </p:sp>
      <p:sp>
        <p:nvSpPr>
          <p:cNvPr id="7" name="Shape 5"/>
          <p:cNvSpPr/>
          <p:nvPr/>
        </p:nvSpPr>
        <p:spPr>
          <a:xfrm>
            <a:off x="749281" y="2786063"/>
            <a:ext cx="2158946" cy="19050"/>
          </a:xfrm>
          <a:prstGeom prst="rect">
            <a:avLst/>
          </a:prstGeom>
          <a:solidFill>
            <a:srgbClr val="083C35"/>
          </a:solidFill>
          <a:ln/>
        </p:spPr>
      </p:sp>
      <p:sp>
        <p:nvSpPr>
          <p:cNvPr id="8" name="Text 6"/>
          <p:cNvSpPr/>
          <p:nvPr/>
        </p:nvSpPr>
        <p:spPr>
          <a:xfrm>
            <a:off x="749281" y="2943673"/>
            <a:ext cx="234944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8B49F"/>
                </a:solidFill>
                <a:latin typeface="IBM Plex Sans SemiBold" pitchFamily="34" charset="0"/>
                <a:ea typeface="IBM Plex Sans SemiBold" pitchFamily="34" charset="-122"/>
                <a:cs typeface="IBM Plex Sans SemiBold" pitchFamily="34" charset="-120"/>
              </a:rPr>
              <a:t>PHASE 01</a:t>
            </a:r>
            <a:endParaRPr lang="en-US" sz="1100" dirty="0"/>
          </a:p>
        </p:txBody>
      </p:sp>
      <p:sp>
        <p:nvSpPr>
          <p:cNvPr id="9" name="Text 7"/>
          <p:cNvSpPr/>
          <p:nvPr/>
        </p:nvSpPr>
        <p:spPr>
          <a:xfrm>
            <a:off x="749281" y="3168817"/>
            <a:ext cx="2158946"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Specify Minimal Contract</a:t>
            </a:r>
            <a:endParaRPr lang="en-US" sz="1800" dirty="0"/>
          </a:p>
        </p:txBody>
      </p:sp>
      <p:sp>
        <p:nvSpPr>
          <p:cNvPr id="10" name="Text 8"/>
          <p:cNvSpPr/>
          <p:nvPr/>
        </p:nvSpPr>
        <p:spPr>
          <a:xfrm>
            <a:off x="749281" y="3951462"/>
            <a:ext cx="2158946"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Author the most concise instruction set that encodes the task boundaries and required output schema.</a:t>
            </a:r>
            <a:endParaRPr lang="en-US" sz="1400" dirty="0"/>
          </a:p>
        </p:txBody>
      </p:sp>
      <p:sp>
        <p:nvSpPr>
          <p:cNvPr id="11" name="Shape 9"/>
          <p:cNvSpPr/>
          <p:nvPr/>
        </p:nvSpPr>
        <p:spPr>
          <a:xfrm>
            <a:off x="3403515" y="2267942"/>
            <a:ext cx="2539936" cy="3145830"/>
          </a:xfrm>
          <a:prstGeom prst="roundRect">
            <a:avLst>
              <a:gd name="adj" fmla="val 84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2" name="Text 10"/>
          <p:cNvSpPr/>
          <p:nvPr/>
        </p:nvSpPr>
        <p:spPr>
          <a:xfrm>
            <a:off x="3594010" y="2483842"/>
            <a:ext cx="8687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BM Plex Sans SemiBold" pitchFamily="34" charset="0"/>
                <a:ea typeface="IBM Plex Sans SemiBold" pitchFamily="34" charset="-122"/>
                <a:cs typeface="IBM Plex Sans SemiBold" pitchFamily="34" charset="-120"/>
              </a:rPr>
              <a:t>02</a:t>
            </a:r>
            <a:endParaRPr lang="en-US" sz="1700" dirty="0"/>
          </a:p>
        </p:txBody>
      </p:sp>
      <p:sp>
        <p:nvSpPr>
          <p:cNvPr id="13" name="Shape 11"/>
          <p:cNvSpPr/>
          <p:nvPr/>
        </p:nvSpPr>
        <p:spPr>
          <a:xfrm>
            <a:off x="3594010" y="2786063"/>
            <a:ext cx="2158946" cy="19050"/>
          </a:xfrm>
          <a:prstGeom prst="rect">
            <a:avLst/>
          </a:prstGeom>
          <a:solidFill>
            <a:srgbClr val="083C35"/>
          </a:solidFill>
          <a:ln/>
        </p:spPr>
      </p:sp>
      <p:sp>
        <p:nvSpPr>
          <p:cNvPr id="14" name="Text 12"/>
          <p:cNvSpPr/>
          <p:nvPr/>
        </p:nvSpPr>
        <p:spPr>
          <a:xfrm>
            <a:off x="3594010" y="2943673"/>
            <a:ext cx="234944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8B49F"/>
                </a:solidFill>
                <a:latin typeface="IBM Plex Sans SemiBold" pitchFamily="34" charset="0"/>
                <a:ea typeface="IBM Plex Sans SemiBold" pitchFamily="34" charset="-122"/>
                <a:cs typeface="IBM Plex Sans SemiBold" pitchFamily="34" charset="-120"/>
              </a:rPr>
              <a:t>PHASE 02</a:t>
            </a:r>
            <a:endParaRPr lang="en-US" sz="1100" dirty="0"/>
          </a:p>
        </p:txBody>
      </p:sp>
      <p:sp>
        <p:nvSpPr>
          <p:cNvPr id="15" name="Text 13"/>
          <p:cNvSpPr/>
          <p:nvPr/>
        </p:nvSpPr>
        <p:spPr>
          <a:xfrm>
            <a:off x="3594010" y="3168817"/>
            <a:ext cx="2158946"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Stress Test Hard Cases</a:t>
            </a:r>
            <a:endParaRPr lang="en-US" sz="1800" dirty="0"/>
          </a:p>
        </p:txBody>
      </p:sp>
      <p:sp>
        <p:nvSpPr>
          <p:cNvPr id="16" name="Text 14"/>
          <p:cNvSpPr/>
          <p:nvPr/>
        </p:nvSpPr>
        <p:spPr>
          <a:xfrm>
            <a:off x="3594010" y="3951462"/>
            <a:ext cx="2158946"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Execute the test suite against ambiguous inputs, adversarial injections, and zero-context edge scenarios.</a:t>
            </a:r>
            <a:endParaRPr lang="en-US" sz="1400" dirty="0"/>
          </a:p>
        </p:txBody>
      </p:sp>
      <p:sp>
        <p:nvSpPr>
          <p:cNvPr id="17" name="Shape 15"/>
          <p:cNvSpPr/>
          <p:nvPr/>
        </p:nvSpPr>
        <p:spPr>
          <a:xfrm>
            <a:off x="6248244" y="2267942"/>
            <a:ext cx="2539936" cy="3145830"/>
          </a:xfrm>
          <a:prstGeom prst="roundRect">
            <a:avLst>
              <a:gd name="adj" fmla="val 84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8" name="Text 16"/>
          <p:cNvSpPr/>
          <p:nvPr/>
        </p:nvSpPr>
        <p:spPr>
          <a:xfrm>
            <a:off x="6438739" y="2483842"/>
            <a:ext cx="8687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BM Plex Sans SemiBold" pitchFamily="34" charset="0"/>
                <a:ea typeface="IBM Plex Sans SemiBold" pitchFamily="34" charset="-122"/>
                <a:cs typeface="IBM Plex Sans SemiBold" pitchFamily="34" charset="-120"/>
              </a:rPr>
              <a:t>03</a:t>
            </a:r>
            <a:endParaRPr lang="en-US" sz="1700" dirty="0"/>
          </a:p>
        </p:txBody>
      </p:sp>
      <p:sp>
        <p:nvSpPr>
          <p:cNvPr id="19" name="Shape 17"/>
          <p:cNvSpPr/>
          <p:nvPr/>
        </p:nvSpPr>
        <p:spPr>
          <a:xfrm>
            <a:off x="6438739" y="2786063"/>
            <a:ext cx="2158946" cy="19050"/>
          </a:xfrm>
          <a:prstGeom prst="rect">
            <a:avLst/>
          </a:prstGeom>
          <a:solidFill>
            <a:srgbClr val="083C35"/>
          </a:solidFill>
          <a:ln/>
        </p:spPr>
      </p:sp>
      <p:sp>
        <p:nvSpPr>
          <p:cNvPr id="20" name="Text 18"/>
          <p:cNvSpPr/>
          <p:nvPr/>
        </p:nvSpPr>
        <p:spPr>
          <a:xfrm>
            <a:off x="6438739" y="2943673"/>
            <a:ext cx="234944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8B49F"/>
                </a:solidFill>
                <a:latin typeface="IBM Plex Sans SemiBold" pitchFamily="34" charset="0"/>
                <a:ea typeface="IBM Plex Sans SemiBold" pitchFamily="34" charset="-122"/>
                <a:cs typeface="IBM Plex Sans SemiBold" pitchFamily="34" charset="-120"/>
              </a:rPr>
              <a:t>PHASE 03</a:t>
            </a:r>
            <a:endParaRPr lang="en-US" sz="1100" dirty="0"/>
          </a:p>
        </p:txBody>
      </p:sp>
      <p:sp>
        <p:nvSpPr>
          <p:cNvPr id="21" name="Text 19"/>
          <p:cNvSpPr/>
          <p:nvPr/>
        </p:nvSpPr>
        <p:spPr>
          <a:xfrm>
            <a:off x="6438739" y="3168817"/>
            <a:ext cx="2158946"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Inspect Categorically</a:t>
            </a:r>
            <a:endParaRPr lang="en-US" sz="1800" dirty="0"/>
          </a:p>
        </p:txBody>
      </p:sp>
      <p:sp>
        <p:nvSpPr>
          <p:cNvPr id="22" name="Text 20"/>
          <p:cNvSpPr/>
          <p:nvPr/>
        </p:nvSpPr>
        <p:spPr>
          <a:xfrm>
            <a:off x="6438739" y="3951462"/>
            <a:ext cx="2158946"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Group failures by root cause—ambiguous directives, retrieval gaps, or validation issues—never by anecdote.</a:t>
            </a:r>
            <a:endParaRPr lang="en-US" sz="1400" dirty="0"/>
          </a:p>
        </p:txBody>
      </p:sp>
      <p:sp>
        <p:nvSpPr>
          <p:cNvPr id="23" name="Shape 21"/>
          <p:cNvSpPr/>
          <p:nvPr/>
        </p:nvSpPr>
        <p:spPr>
          <a:xfrm>
            <a:off x="9092973" y="2267942"/>
            <a:ext cx="2539936" cy="3145830"/>
          </a:xfrm>
          <a:prstGeom prst="roundRect">
            <a:avLst>
              <a:gd name="adj" fmla="val 8400"/>
            </a:avLst>
          </a:prstGeom>
          <a:solidFill>
            <a:srgbClr val="FFFFFF"/>
          </a:solidFill>
          <a:ln/>
          <a:effectLst>
            <a:outerShdw sx="100000" sy="100000" kx="0" ky="0" algn="bl" rotWithShape="0" blurRad="227330" dist="74930" dir="5400000">
              <a:srgbClr val="083c35">
                <a:alpha val="10000"/>
              </a:srgbClr>
            </a:outerShdw>
          </a:effectLst>
        </p:spPr>
      </p:sp>
      <p:sp>
        <p:nvSpPr>
          <p:cNvPr id="24" name="Shape 22"/>
          <p:cNvSpPr/>
          <p:nvPr/>
        </p:nvSpPr>
        <p:spPr>
          <a:xfrm>
            <a:off x="9092973" y="2267942"/>
            <a:ext cx="2539936" cy="38100"/>
          </a:xfrm>
          <a:prstGeom prst="rect">
            <a:avLst/>
          </a:prstGeom>
          <a:solidFill>
            <a:srgbClr val="F26A3D"/>
          </a:solidFill>
          <a:ln/>
        </p:spPr>
      </p:sp>
      <p:sp>
        <p:nvSpPr>
          <p:cNvPr id="25" name="Shape 23"/>
          <p:cNvSpPr/>
          <p:nvPr/>
        </p:nvSpPr>
        <p:spPr>
          <a:xfrm>
            <a:off x="11620209" y="2267942"/>
            <a:ext cx="12700" cy="3145830"/>
          </a:xfrm>
          <a:prstGeom prst="rect">
            <a:avLst/>
          </a:prstGeom>
          <a:solidFill>
            <a:srgbClr val="CBD4CE"/>
          </a:solidFill>
          <a:ln/>
        </p:spPr>
      </p:sp>
      <p:sp>
        <p:nvSpPr>
          <p:cNvPr id="26" name="Shape 24"/>
          <p:cNvSpPr/>
          <p:nvPr/>
        </p:nvSpPr>
        <p:spPr>
          <a:xfrm>
            <a:off x="9092973" y="5401072"/>
            <a:ext cx="2539936" cy="12700"/>
          </a:xfrm>
          <a:prstGeom prst="rect">
            <a:avLst/>
          </a:prstGeom>
          <a:solidFill>
            <a:srgbClr val="CBD4CE"/>
          </a:solidFill>
          <a:ln/>
        </p:spPr>
      </p:sp>
      <p:sp>
        <p:nvSpPr>
          <p:cNvPr id="27" name="Shape 25"/>
          <p:cNvSpPr/>
          <p:nvPr/>
        </p:nvSpPr>
        <p:spPr>
          <a:xfrm>
            <a:off x="9092973" y="2267942"/>
            <a:ext cx="12700" cy="3145830"/>
          </a:xfrm>
          <a:prstGeom prst="rect">
            <a:avLst/>
          </a:prstGeom>
          <a:solidFill>
            <a:srgbClr val="CBD4CE"/>
          </a:solidFill>
          <a:ln/>
        </p:spPr>
      </p:sp>
      <p:sp>
        <p:nvSpPr>
          <p:cNvPr id="28" name="Text 26"/>
          <p:cNvSpPr/>
          <p:nvPr/>
        </p:nvSpPr>
        <p:spPr>
          <a:xfrm>
            <a:off x="9283468" y="2509242"/>
            <a:ext cx="8687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BM Plex Sans SemiBold" pitchFamily="34" charset="0"/>
                <a:ea typeface="IBM Plex Sans SemiBold" pitchFamily="34" charset="-122"/>
                <a:cs typeface="IBM Plex Sans SemiBold" pitchFamily="34" charset="-120"/>
              </a:rPr>
              <a:t>04</a:t>
            </a:r>
            <a:endParaRPr lang="en-US" sz="1700" dirty="0"/>
          </a:p>
        </p:txBody>
      </p:sp>
      <p:sp>
        <p:nvSpPr>
          <p:cNvPr id="29" name="Shape 27"/>
          <p:cNvSpPr/>
          <p:nvPr/>
        </p:nvSpPr>
        <p:spPr>
          <a:xfrm>
            <a:off x="9283468" y="2811463"/>
            <a:ext cx="2158946" cy="19050"/>
          </a:xfrm>
          <a:prstGeom prst="rect">
            <a:avLst/>
          </a:prstGeom>
          <a:solidFill>
            <a:srgbClr val="083C35"/>
          </a:solidFill>
          <a:ln/>
        </p:spPr>
      </p:sp>
      <p:sp>
        <p:nvSpPr>
          <p:cNvPr id="30" name="Text 28"/>
          <p:cNvSpPr/>
          <p:nvPr/>
        </p:nvSpPr>
        <p:spPr>
          <a:xfrm>
            <a:off x="9283468" y="2969073"/>
            <a:ext cx="234944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59170"/>
                </a:solidFill>
                <a:latin typeface="IBM Plex Sans SemiBold" pitchFamily="34" charset="0"/>
                <a:ea typeface="IBM Plex Sans SemiBold" pitchFamily="34" charset="-122"/>
                <a:cs typeface="IBM Plex Sans SemiBold" pitchFamily="34" charset="-120"/>
              </a:rPr>
              <a:t>PHASE 04</a:t>
            </a:r>
            <a:endParaRPr lang="en-US" sz="1100" dirty="0"/>
          </a:p>
        </p:txBody>
      </p:sp>
      <p:sp>
        <p:nvSpPr>
          <p:cNvPr id="31" name="Text 29"/>
          <p:cNvSpPr/>
          <p:nvPr/>
        </p:nvSpPr>
        <p:spPr>
          <a:xfrm>
            <a:off x="9283468" y="3194217"/>
            <a:ext cx="2158946"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System-Level Refinement</a:t>
            </a:r>
            <a:endParaRPr lang="en-US" sz="1800" dirty="0"/>
          </a:p>
        </p:txBody>
      </p:sp>
      <p:sp>
        <p:nvSpPr>
          <p:cNvPr id="32" name="Text 30"/>
          <p:cNvSpPr/>
          <p:nvPr/>
        </p:nvSpPr>
        <p:spPr>
          <a:xfrm>
            <a:off x="9283468" y="3976862"/>
            <a:ext cx="2158946"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Fix errors by tuning chunking, tooling constraints, or prompt architecture, then lock in new regression tests.</a:t>
            </a:r>
            <a:endParaRPr lang="en-US" sz="1400" dirty="0"/>
          </a:p>
        </p:txBody>
      </p:sp>
      <p:sp>
        <p:nvSpPr>
          <p:cNvPr id="33" name="Shape 31"/>
          <p:cNvSpPr/>
          <p:nvPr/>
        </p:nvSpPr>
        <p:spPr>
          <a:xfrm>
            <a:off x="558786" y="5681663"/>
            <a:ext cx="7382682" cy="769938"/>
          </a:xfrm>
          <a:prstGeom prst="roundRect">
            <a:avLst>
              <a:gd name="adj" fmla="val 27711"/>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34" name="Text 32"/>
          <p:cNvSpPr/>
          <p:nvPr/>
        </p:nvSpPr>
        <p:spPr>
          <a:xfrm>
            <a:off x="774681" y="5826697"/>
            <a:ext cx="6950893"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FFFFFF"/>
                </a:solidFill>
                <a:latin typeface="IBM Plex Sans Bold" pitchFamily="34" charset="0"/>
                <a:ea typeface="IBM Plex Sans Bold" pitchFamily="34" charset="-122"/>
                <a:cs typeface="IBM Plex Sans Bold" pitchFamily="34" charset="-120"/>
              </a:rPr>
              <a:t>Production Takeaway:</a:t>
            </a:r>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 Reliable prompts are engineered through tight feedback loops, rigorous contracts, and automated test harnesses.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2026-10-07T05:57:59Z</dcterms:created>
  <dcterms:modified xsi:type="dcterms:W3CDTF">2026-10-07T05:57:59Z</dcterms:modified>
</cp:coreProperties>
</file>