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</ns0:sldIdLst>
  <ns0:sldSz cx="12192000" cy="6858000" type="screen4x3"/>
  <ns0:notesSz cx="6858000" cy="9144000"/>
  <ns0:embeddedFontLst>
    <ns0:embeddedFont>
      <ns0:font typeface="Inter"/>
      <ns0:bold ns1:id="rIdFont12"/>
      <ns0:regular ns1:id="rIdFont13"/>
    </ns0:embeddedFont>
    <ns0:embeddedFont>
      <ns0:font typeface="Space Grotesk"/>
      <ns0:bold ns1:id="rIdFont1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Font12" Type="http://schemas.openxmlformats.org/officeDocument/2006/relationships/font" Target="fonts/2acc9bee-ff35-4eab-a62c-652186df02b7.fntdata" /><ns0:Relationship Id="rIdFont13" Type="http://schemas.openxmlformats.org/officeDocument/2006/relationships/font" Target="fonts/8ed52a0f-049a-487b-9643-6f2002928465.fntdata" /><ns0:Relationship Id="rIdFont14" Type="http://schemas.openxmlformats.org/officeDocument/2006/relationships/font" Target="fonts/492ccf12-8e10-4a49-a3cc-3ee337e00c6c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4147095"/>
            <a:ext cx="5334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2025104"/>
            <a:ext cx="113538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Space Grotesk"/>
              </a:rPr>
              <a:t>FOUNDATIONAL AI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377529"/>
            <a:ext cx="11353800" cy="6494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115"/>
              </a:lnSpc>
            </a:pPr>
            <a:r>
              <a:rPr b="1" sz="4650" i="0" u="none">
                <a:solidFill>
                  <a:srgbClr val="F8FAFC"/>
                </a:solidFill>
                <a:latin typeface="Space Grotesk"/>
              </a:rPr>
              <a:t>Large Language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217515"/>
            <a:ext cx="73342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Scaling dynamics, attention architectures, and empirical reasoning benchmarks.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4656683"/>
            <a:ext cx="3048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EXECUTIVE TECHNICAL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1400" y="4642395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1925" y="4656683"/>
            <a:ext cx="2095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ARCHITECTURE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6229350"/>
            <a:ext cx="106680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86925" y="457200"/>
            <a:ext cx="1743075" cy="304800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622935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2757933"/>
            <a:ext cx="10668000" cy="2286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2000" y="3739008"/>
            <a:ext cx="10668000" cy="2286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4720083"/>
            <a:ext cx="10668000" cy="2286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2000" y="2757933"/>
            <a:ext cx="5867400" cy="22860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3739008"/>
            <a:ext cx="8320980" cy="228600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4720083"/>
            <a:ext cx="10241160" cy="228600"/>
          </a:xfrm>
          <a:prstGeom prst="roundRect">
            <a:avLst>
              <a:gd name="adj" fmla="val 33333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20275" y="514350"/>
            <a:ext cx="1571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Space Grotesk"/>
              </a:rPr>
              <a:t>COMPUTE DYNAMICS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353175"/>
            <a:ext cx="3905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Large Language Models: Architecture &amp; Frontiers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86900" y="6353175"/>
            <a:ext cx="2428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Module 01 • Parameter Scaling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57200"/>
            <a:ext cx="69175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SCALING LAWS &amp; 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685800"/>
            <a:ext cx="7263407" cy="372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Training Compute vs. Token Volume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3043683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Tokens scaled proportionally to active parameters.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4024758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Sub-quadratic latency via Grouped-Query Attention.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5005833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Emergent multi-step reasoning capabilities.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2453133"/>
            <a:ext cx="45720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Chinchilla-Optimal Tier (8B / 15T Tokens)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9750" y="2472183"/>
            <a:ext cx="25003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Space Grotesk"/>
              </a:rPr>
              <a:t>1.8× Compute Efficiency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3434208"/>
            <a:ext cx="464343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Enterprise Mid-Range (70B / 15T Tokens)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0675" y="3453258"/>
            <a:ext cx="27741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82F6"/>
                </a:solidFill>
                <a:latin typeface="Space Grotesk"/>
              </a:rPr>
              <a:t>4.2× Inference Throughput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4415283"/>
            <a:ext cx="4762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Frontier Dense / MoE (405B+ Parameters)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7400" y="4434333"/>
            <a:ext cx="2190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D4ED8"/>
                </a:solidFill>
                <a:latin typeface="Space Grotesk"/>
              </a:rPr>
              <a:t>10^26 Training FLOPs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6229350"/>
            <a:ext cx="106680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420225" y="457200"/>
            <a:ext cx="2009775" cy="304800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622935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61471" y="2234505"/>
            <a:ext cx="5368528" cy="974377"/>
          </a:xfrm>
          <a:prstGeom prst="roundRect">
            <a:avLst>
              <a:gd name="adj" fmla="val 117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61471" y="3342233"/>
            <a:ext cx="5368528" cy="974377"/>
          </a:xfrm>
          <a:prstGeom prst="roundRect">
            <a:avLst>
              <a:gd name="adj" fmla="val 117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61471" y="4449960"/>
            <a:ext cx="5368528" cy="974377"/>
          </a:xfrm>
          <a:prstGeom prst="roundRect">
            <a:avLst>
              <a:gd name="adj" fmla="val 117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2000" y="4915197"/>
            <a:ext cx="110876" cy="114300"/>
          </a:xfrm>
          <a:prstGeom prst="roundRect">
            <a:avLst>
              <a:gd name="adj" fmla="val 25771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31690" y="4915197"/>
            <a:ext cx="111025" cy="114300"/>
          </a:xfrm>
          <a:prstGeom prst="roundRect">
            <a:avLst>
              <a:gd name="adj" fmla="val 25737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31009" y="4915197"/>
            <a:ext cx="111025" cy="114300"/>
          </a:xfrm>
          <a:prstGeom prst="roundRect">
            <a:avLst>
              <a:gd name="adj" fmla="val 25737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435" y="2486322"/>
            <a:ext cx="2095500" cy="2095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53575" y="514350"/>
            <a:ext cx="18383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Space Grotesk"/>
              </a:rPr>
              <a:t>MEMORY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353175"/>
            <a:ext cx="3905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Large Language Models: Architecture &amp; Frontiers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0225" y="6353175"/>
            <a:ext cx="25122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Module 02 • Latency &amp;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57200"/>
            <a:ext cx="8501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INFERENCE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685800"/>
            <a:ext cx="8926115" cy="372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VRAM Distribution in Long-Context Serving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9596" y="2453580"/>
            <a:ext cx="589240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PagedAttention Allocation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596" y="2758380"/>
            <a:ext cx="5892403" cy="2314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Near-zero memory fragmentation in batch serving.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9596" y="3561308"/>
            <a:ext cx="589240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Grouped-Query Attention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596" y="3866108"/>
            <a:ext cx="5892403" cy="2314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8× reduction in active key-value tensor size.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9596" y="4669035"/>
            <a:ext cx="589240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FP8 / INT4 Quantization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596" y="4973835"/>
            <a:ext cx="5892403" cy="2314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Half the memory footprint with negligible accuracy loss.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076" y="4772322"/>
            <a:ext cx="130641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Weights (50%)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8916" y="4772322"/>
            <a:ext cx="143589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KV Cache (35%)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8235" y="4772322"/>
            <a:ext cx="151923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Activations (15%)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6229350"/>
            <a:ext cx="106680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363075" y="457200"/>
            <a:ext cx="2066925" cy="304800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622935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2819846"/>
            <a:ext cx="10668000" cy="2286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2000" y="3515171"/>
            <a:ext cx="10668000" cy="2286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4210496"/>
            <a:ext cx="10668000" cy="2286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2000" y="4905821"/>
            <a:ext cx="10668000" cy="2286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2819846"/>
            <a:ext cx="10219878" cy="22860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3515171"/>
            <a:ext cx="9515772" cy="22860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2000" y="4210496"/>
            <a:ext cx="8363694" cy="22860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2000" y="4905821"/>
            <a:ext cx="5504557" cy="22860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96425" y="514350"/>
            <a:ext cx="18954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Space Grotesk"/>
              </a:rPr>
              <a:t>EMPIRICAL BENCHMARKS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353175"/>
            <a:ext cx="3905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Large Language Models: Architecture &amp; Frontiers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6353175"/>
            <a:ext cx="2857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Module 03 • Reasoning Benchmarks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457200"/>
            <a:ext cx="6417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EVALUATION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685800"/>
            <a:ext cx="6738342" cy="372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Frontier vs. Baseline Capabilities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2524571"/>
            <a:ext cx="47148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Space Grotesk"/>
              </a:rPr>
              <a:t>GSM8K (Complex Mathematical Reasoning)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67925" y="2524571"/>
            <a:ext cx="170259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2563EB"/>
                </a:solidFill>
                <a:latin typeface="Space Grotesk"/>
              </a:rPr>
              <a:t>95.8% vs. 84.2%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3219896"/>
            <a:ext cx="459581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Space Grotesk"/>
              </a:rPr>
              <a:t>HumanEval (Zero-Shot Python Synthesis)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219896"/>
            <a:ext cx="1714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2563EB"/>
                </a:solidFill>
                <a:latin typeface="Space Grotesk"/>
              </a:rPr>
              <a:t>89.2% vs. 73.6%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3915221"/>
            <a:ext cx="50006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Space Grotesk"/>
              </a:rPr>
              <a:t>MMLU-Pro (Multidisciplinary Academic Exam)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96500" y="3915221"/>
            <a:ext cx="16668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2563EB"/>
                </a:solidFill>
                <a:latin typeface="Space Grotesk"/>
              </a:rPr>
              <a:t>78.4% vs. 62.1%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4610546"/>
            <a:ext cx="553640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Space Grotesk"/>
              </a:rPr>
              <a:t>SWE-bench Verified (Real Repository Engineering)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06025" y="4610546"/>
            <a:ext cx="165496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2563EB"/>
                </a:solidFill>
                <a:latin typeface="Space Grotesk"/>
              </a:rPr>
              <a:t>51.6% vs. 31.2%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67400" y="418326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10125" y="2169765"/>
            <a:ext cx="2571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Space Grotesk"/>
              </a:rPr>
              <a:t>STRATEGIC HORIZONS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2848" y="2522190"/>
            <a:ext cx="10426303" cy="594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b="1" sz="3900" i="0" u="none">
                <a:solidFill>
                  <a:srgbClr val="F8FAFC"/>
                </a:solidFill>
                <a:latin typeface="Space Grotesk"/>
              </a:rPr>
              <a:t>Autonomous Agentic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306960"/>
            <a:ext cx="7620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Transitioning from passive sequence modeling to multi-step reasoning, external tool invocation, and environment interaction.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7187" y="4488060"/>
            <a:ext cx="3857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Questions &amp; Architectural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